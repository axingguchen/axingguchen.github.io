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</p:sldMasterIdLst>
  <p:notesMasterIdLst>
    <p:notesMasterId r:id="rId5"/>
  </p:notesMasterIdLst>
  <p:handoutMasterIdLst>
    <p:handoutMasterId r:id="rId30"/>
  </p:handoutMasterIdLst>
  <p:sldIdLst>
    <p:sldId id="374" r:id="rId4"/>
    <p:sldId id="567" r:id="rId6"/>
    <p:sldId id="453" r:id="rId7"/>
    <p:sldId id="552" r:id="rId8"/>
    <p:sldId id="551" r:id="rId9"/>
    <p:sldId id="434" r:id="rId10"/>
    <p:sldId id="555" r:id="rId11"/>
    <p:sldId id="556" r:id="rId12"/>
    <p:sldId id="557" r:id="rId13"/>
    <p:sldId id="554" r:id="rId14"/>
    <p:sldId id="502" r:id="rId15"/>
    <p:sldId id="511" r:id="rId16"/>
    <p:sldId id="558" r:id="rId17"/>
    <p:sldId id="559" r:id="rId18"/>
    <p:sldId id="561" r:id="rId19"/>
    <p:sldId id="562" r:id="rId20"/>
    <p:sldId id="563" r:id="rId21"/>
    <p:sldId id="564" r:id="rId22"/>
    <p:sldId id="589" r:id="rId23"/>
    <p:sldId id="566" r:id="rId24"/>
    <p:sldId id="590" r:id="rId25"/>
    <p:sldId id="565" r:id="rId26"/>
    <p:sldId id="568" r:id="rId27"/>
    <p:sldId id="570" r:id="rId28"/>
    <p:sldId id="264" r:id="rId29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B5ABAE4-DFC4-4A50-AF79-0BD53D23BDC0}">
          <p14:sldIdLst>
            <p14:sldId id="374"/>
          </p14:sldIdLst>
        </p14:section>
        <p14:section name="P1" id="{54AD71F3-046B-4AA2-9CC9-3D6E302ED0FA}">
          <p14:sldIdLst>
            <p14:sldId id="567"/>
            <p14:sldId id="453"/>
          </p14:sldIdLst>
        </p14:section>
        <p14:section name="P2" id="{0525A52E-7798-43E4-9558-736B4CCEEAAC}">
          <p14:sldIdLst>
            <p14:sldId id="552"/>
            <p14:sldId id="551"/>
            <p14:sldId id="434"/>
            <p14:sldId id="555"/>
            <p14:sldId id="556"/>
            <p14:sldId id="557"/>
            <p14:sldId id="554"/>
            <p14:sldId id="502"/>
            <p14:sldId id="511"/>
            <p14:sldId id="558"/>
            <p14:sldId id="559"/>
            <p14:sldId id="561"/>
            <p14:sldId id="562"/>
            <p14:sldId id="563"/>
            <p14:sldId id="564"/>
            <p14:sldId id="589"/>
            <p14:sldId id="566"/>
            <p14:sldId id="590"/>
            <p14:sldId id="565"/>
            <p14:sldId id="568"/>
            <p14:sldId id="570"/>
          </p14:sldIdLst>
        </p14:section>
        <p14:section name="end" id="{05AF3D2C-AD7B-4551-98C4-7814798175ED}">
          <p14:sldIdLst>
            <p14:sldId id="264"/>
          </p14:sldIdLst>
        </p14:section>
        <p14:section name="标注" id="{93B0FE6C-9A55-4952-959B-18351981C598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CD"/>
    <a:srgbClr val="212A35"/>
    <a:srgbClr val="CDD0E0"/>
    <a:srgbClr val="EAEBF2"/>
    <a:srgbClr val="E9EAF1"/>
    <a:srgbClr val="2950A1"/>
    <a:srgbClr val="8C0A3C"/>
    <a:srgbClr val="152751"/>
    <a:srgbClr val="1E3C79"/>
    <a:srgbClr val="295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3" autoAdjust="0"/>
    <p:restoredTop sz="86337" autoAdjust="0"/>
  </p:normalViewPr>
  <p:slideViewPr>
    <p:cSldViewPr snapToGrid="0">
      <p:cViewPr varScale="1">
        <p:scale>
          <a:sx n="98" d="100"/>
          <a:sy n="98" d="100"/>
        </p:scale>
        <p:origin x="1014" y="8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gs" Target="tags/tag5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7BCCA-AD2C-C347-BDBE-4A66383B11B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63917-1962-DB46-938D-8CC662FAE8A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30137-CABB-EA4F-A0B9-2228CD0213C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456C3-7442-C346-ADCE-84DCAEB995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图都汉化，表自己做。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图都汉化，表自己做。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图都汉化，表自己做。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图都汉化，表自己做。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图都汉化，表自己做。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多路归并后算法复杂度为</a:t>
                </a:r>
                <a:r>
                  <a:rPr lang="en-US" altLang="zh-CN" dirty="0"/>
                  <a:t>O(</a:t>
                </a:r>
                <a:r>
                  <a:rPr lang="en-US" altLang="zh-CN" dirty="0" err="1"/>
                  <a:t>nlogn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，且资源利用率提高</a:t>
                </a:r>
                <a:endParaRPr lang="en-US" altLang="zh-CN" dirty="0"/>
              </a:p>
              <a:p>
                <a:endParaRPr lang="en-US" altLang="zh-CN" dirty="0"/>
              </a:p>
              <a:p>
                <a:pPr defTabSz="431800">
                  <a:lnSpc>
                    <a:spcPct val="150000"/>
                  </a:lnSpc>
                </a:pP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我们可以简单证明这一点。假设有规则集合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S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S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′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，且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S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′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S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的子集。若某规则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𝑅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S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′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中是冗余的，可得</a:t>
                </a:r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defTabSz="4318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∀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𝑞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 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𝑅𝑒𝑤𝑟𝑖𝑡𝑒</m:t>
                      </m:r>
                      <m:d>
                        <m:dPr>
                          <m:ctrlP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𝑆</m:t>
                          </m:r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′,</m:t>
                          </m:r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𝑞</m:t>
                          </m:r>
                        </m:e>
                      </m:d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𝑅𝑒𝑤𝑟𝑖𝑡𝑒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p>
                        <m:sSupPr>
                          <m:ctrlP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</m:e>
                      </m:d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,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𝑞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defTabSz="431800">
                  <a:lnSpc>
                    <a:spcPct val="150000"/>
                  </a:lnSpc>
                </a:pPr>
                <a:r>
                  <a:rPr lang="en-US" altLang="zh-CN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	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对于任意查询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𝑞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，使用规则集合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S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进行优化时，分为两种情况</a:t>
                </a:r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defTabSz="431800">
                  <a:lnSpc>
                    <a:spcPct val="150000"/>
                  </a:lnSpc>
                </a:pP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</a:t>
                </a:r>
                <a:r>
                  <a:rPr lang="en-US" altLang="zh-CN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2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）查询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𝑞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在优化过程中使用到了规则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𝑅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。那么，存在某查询计划中间结果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  <m:t>𝑞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，在查询时使用规则</a:t>
                </a:r>
                <a14:m>
                  <m:oMath xmlns:m="http://schemas.openxmlformats.org/officeDocument/2006/math">
                    <m:r>
                      <a:rPr lang="en-US" altLang="zh-CN" i="1" kern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𝑅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重写为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  <m:t>𝑞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  <m:t>′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  <m:t>𝑅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，即</a:t>
                </a:r>
                <a:endParaRPr lang="zh-CN" altLang="en-US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algn="ctr" defTabSz="4318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𝑞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CN" i="1" kern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lt"/>
                            </a:rPr>
                          </m:ctrlPr>
                        </m:groupChr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lt"/>
                            </a:rPr>
                            <m:t>𝑅</m:t>
                          </m:r>
                        </m:e>
                      </m:groupChr>
                      <m:sSub>
                        <m:sSub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𝑞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′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lvl="1" defTabSz="431800">
                  <a:lnSpc>
                    <a:spcPct val="150000"/>
                  </a:lnSpc>
                </a:pP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在这种情况下，由公式可知，必定存在另一条优化路径，使得</a:t>
                </a:r>
                <a:endParaRPr lang="zh-CN" altLang="en-US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algn="ctr" defTabSz="4318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𝑞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CN" i="1" kern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lt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ea"/>
                                  <a:sym typeface="+mn-lt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…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ea"/>
                              <a:sym typeface="+mn-lt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altLang="zh-CN" i="1" ker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ea"/>
                                  <a:sym typeface="+mn-lt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ea"/>
                                  <a:sym typeface="+mn-lt"/>
                                </a:rPr>
                                <m:t>𝑚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𝑞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′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defTabSz="431800">
                  <a:lnSpc>
                    <a:spcPct val="150000"/>
                  </a:lnSpc>
                </a:pP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其中，该优化路径用到的规则集合</a:t>
                </a:r>
                <a14:m>
                  <m:oMath xmlns:m="http://schemas.openxmlformats.org/officeDocument/2006/math">
                    <m:r>
                      <a:rPr lang="en-US" altLang="zh-CN" b="0" i="0" kern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{</m:t>
                    </m:r>
                    <m:sSub>
                      <m:sSubPr>
                        <m:ctrlPr>
                          <a:rPr lang="en-US" altLang="zh-CN" i="1" kern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m:t>𝑅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,…,</m:t>
                    </m:r>
                  </m:oMath>
                </a14:m>
                <a:r>
                  <a:rPr lang="en-US" altLang="zh-CN" kern="0" dirty="0">
                    <a:ea typeface="微软雅黑" panose="020B0503020204020204" pitchFamily="34" charset="-122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m:t>𝑅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m:t>𝑚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}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⊆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𝑆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 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m:t>𝑅</m:t>
                        </m:r>
                      </m:e>
                    </m:d>
                  </m:oMath>
                </a14:m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。可得</a:t>
                </a:r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algn="ctr" defTabSz="4318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𝑅𝑒𝑤𝑟𝑖𝑡𝑒</m:t>
                      </m:r>
                      <m:d>
                        <m:d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𝑆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𝑞</m:t>
                          </m:r>
                        </m:e>
                      </m:d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𝑅𝑒𝑤𝑟𝑖𝑡𝑒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𝑆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</m:e>
                      </m:d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,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𝑞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endParaRPr lang="zh-CN" altLang="en-US" dirty="0"/>
              </a:p>
              <a:p>
                <a:pPr indent="0" defTabSz="431800" fontAlgn="auto">
                  <a:lnSpc>
                    <a:spcPct val="200000"/>
                  </a:lnSpc>
                </a:pP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在枚举输出的规则中，包含</a:t>
                </a:r>
                <a:r>
                  <a:rPr lang="zh-CN" altLang="en-US" b="1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大量重复的规则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。这是复杂的映射与约束枚举造成的，在具体规则生成前难以去除冗余。</a:t>
                </a:r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indent="0" defTabSz="431800" fontAlgn="auto">
                  <a:lnSpc>
                    <a:spcPct val="200000"/>
                  </a:lnSpc>
                </a:pPr>
                <a:r>
                  <a:rPr lang="en-US" altLang="zh-CN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	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</a:t>
                </a:r>
                <a:r>
                  <a:rPr lang="en-US" altLang="zh-CN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2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）去冗余操作会带来一定的</a:t>
                </a:r>
                <a:r>
                  <a:rPr lang="zh-CN" altLang="en-US" b="1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内存开销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。以模板对为单位的去冗余</a:t>
                </a:r>
                <a:r>
                  <a:rPr lang="zh-CN" altLang="en-US" b="1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可以控制内存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，避免影响枚举算法性能。</a:t>
                </a:r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indent="0" defTabSz="431800" fontAlgn="auto">
                  <a:lnSpc>
                    <a:spcPct val="200000"/>
                  </a:lnSpc>
                </a:pPr>
                <a:r>
                  <a:rPr lang="en-US" altLang="zh-CN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	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</a:t>
                </a:r>
                <a:r>
                  <a:rPr lang="en-US" altLang="zh-CN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3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）枚举时</a:t>
                </a:r>
                <a:r>
                  <a:rPr lang="zh-CN" altLang="en-US" b="1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过滤冗余规则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，可以中断后续对约束的进一步枚举，</a:t>
                </a:r>
                <a:r>
                  <a:rPr lang="zh-CN" altLang="en-US" b="1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减少校验器调度次数</a:t>
                </a:r>
                <a:r>
                  <a: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。</a:t>
                </a:r>
                <a:endParaRPr lang="en-US" altLang="zh-CN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b="-815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29EE-975A-6045-9CEB-93A3F839050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54B475C-D279-4B33-92D4-BB81A986AF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5C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0765038" y="364218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Shenzhen</a:t>
            </a:r>
            <a:endParaRPr lang="en-US" altLang="zh-CN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UNIVERSITY</a:t>
            </a:r>
            <a:endParaRPr lang="zh-CN" altLang="en-US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0754152" y="462189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Shenzhen</a:t>
            </a:r>
            <a:endParaRPr lang="en-US" altLang="zh-CN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UNIVERSITY</a:t>
            </a:r>
            <a:endParaRPr lang="zh-CN" altLang="en-US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1"/>
            <a:ext cx="4684150" cy="6858000"/>
          </a:xfrm>
          <a:prstGeom prst="rect">
            <a:avLst/>
          </a:prstGeom>
          <a:solidFill>
            <a:srgbClr val="567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754151" y="462189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Shenzhen</a:t>
            </a:r>
            <a:endParaRPr lang="en-US" altLang="zh-CN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UNIVERSITY</a:t>
            </a:r>
            <a:endParaRPr lang="zh-CN" altLang="en-US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31838" y="5998954"/>
            <a:ext cx="1888337" cy="30777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just"/>
            <a:r>
              <a:rPr lang="en-US" altLang="zh-CN" sz="1000" b="1">
                <a:solidFill>
                  <a:schemeClr val="bg1"/>
                </a:solidFill>
              </a:rPr>
              <a:t>S</a:t>
            </a:r>
            <a:r>
              <a:rPr lang="zh-CN" altLang="en-US" sz="1000" b="1">
                <a:solidFill>
                  <a:schemeClr val="bg1"/>
                </a:solidFill>
              </a:rPr>
              <a:t>ea, all water, recedes a rivers</a:t>
            </a:r>
            <a:r>
              <a:rPr lang="en-US" altLang="zh-CN" sz="1000" b="1">
                <a:solidFill>
                  <a:schemeClr val="bg1"/>
                </a:solidFill>
              </a:rPr>
              <a:t>;</a:t>
            </a:r>
            <a:endParaRPr lang="en-US" altLang="zh-CN" sz="1000" b="1">
              <a:solidFill>
                <a:schemeClr val="bg1"/>
              </a:solidFill>
            </a:endParaRPr>
          </a:p>
          <a:p>
            <a:pPr algn="just"/>
            <a:r>
              <a:rPr lang="zh-CN" altLang="en-US" sz="1000" b="1">
                <a:solidFill>
                  <a:schemeClr val="bg1"/>
                </a:solidFill>
              </a:rPr>
              <a:t>utmost wit listens to all sides</a:t>
            </a:r>
            <a:r>
              <a:rPr lang="en-US" altLang="zh-CN" sz="1000" b="1">
                <a:solidFill>
                  <a:schemeClr val="bg1"/>
                </a:solidFill>
              </a:rPr>
              <a:t>.</a:t>
            </a:r>
            <a:endParaRPr lang="zh-CN" altLang="en-US" sz="1000" b="1">
              <a:solidFill>
                <a:schemeClr val="bg1"/>
              </a:solidFill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731838" y="2196223"/>
            <a:ext cx="3125794" cy="1606508"/>
            <a:chOff x="3834754" y="2495699"/>
            <a:chExt cx="3125794" cy="1606508"/>
          </a:xfrm>
        </p:grpSpPr>
        <p:sp>
          <p:nvSpPr>
            <p:cNvPr id="8" name="文本框 7"/>
            <p:cNvSpPr txBox="1"/>
            <p:nvPr/>
          </p:nvSpPr>
          <p:spPr>
            <a:xfrm>
              <a:off x="3839501" y="2495699"/>
              <a:ext cx="3121047" cy="9233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6000">
                  <a:solidFill>
                    <a:schemeClr val="bg1"/>
                  </a:solidFill>
                </a:rPr>
                <a:t>THANKS</a:t>
              </a:r>
              <a:endParaRPr lang="zh-CN" altLang="en-US" sz="6000">
                <a:solidFill>
                  <a:schemeClr val="bg1"/>
                </a:solidFill>
              </a:endParaRPr>
            </a:p>
          </p:txBody>
        </p:sp>
        <p:grpSp>
          <p:nvGrpSpPr>
            <p:cNvPr id="9" name="组合 8"/>
            <p:cNvGrpSpPr/>
            <p:nvPr userDrawn="1"/>
          </p:nvGrpSpPr>
          <p:grpSpPr>
            <a:xfrm>
              <a:off x="3834754" y="3397344"/>
              <a:ext cx="1124118" cy="704863"/>
              <a:chOff x="2468044" y="3339787"/>
              <a:chExt cx="1124118" cy="704863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2552710" y="3339787"/>
                <a:ext cx="10394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200">
                    <a:solidFill>
                      <a:schemeClr val="bg1"/>
                    </a:solidFill>
                  </a:rPr>
                  <a:t>For Your Attention </a:t>
                </a:r>
                <a:endParaRPr lang="zh-CN" altLang="en-US" sz="2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2468044" y="3736873"/>
                <a:ext cx="10114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endParaRPr lang="zh-CN" altLang="en-US" sz="22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1" name="组合 20"/>
          <p:cNvGrpSpPr/>
          <p:nvPr userDrawn="1"/>
        </p:nvGrpSpPr>
        <p:grpSpPr>
          <a:xfrm rot="20394303">
            <a:off x="3221945" y="-1575994"/>
            <a:ext cx="11439261" cy="11910951"/>
            <a:chOff x="3439566" y="1666270"/>
            <a:chExt cx="11439261" cy="11910951"/>
          </a:xfrm>
        </p:grpSpPr>
        <p:grpSp>
          <p:nvGrpSpPr>
            <p:cNvPr id="22" name="组合 21"/>
            <p:cNvGrpSpPr/>
            <p:nvPr/>
          </p:nvGrpSpPr>
          <p:grpSpPr>
            <a:xfrm rot="4029167">
              <a:off x="8779335" y="1665563"/>
              <a:ext cx="6098786" cy="6100199"/>
              <a:chOff x="18351500" y="3723568"/>
              <a:chExt cx="4878842" cy="4879972"/>
            </a:xfrm>
          </p:grpSpPr>
          <p:sp>
            <p:nvSpPr>
              <p:cNvPr id="26" name="Freeform 6"/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7"/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 rot="14829167">
              <a:off x="3440583" y="4789517"/>
              <a:ext cx="8786687" cy="8788722"/>
              <a:chOff x="18351500" y="3723568"/>
              <a:chExt cx="4878842" cy="4879972"/>
            </a:xfrm>
          </p:grpSpPr>
          <p:sp>
            <p:nvSpPr>
              <p:cNvPr id="24" name="Freeform 6"/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74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7"/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8" name="文本框 27"/>
          <p:cNvSpPr txBox="1"/>
          <p:nvPr userDrawn="1"/>
        </p:nvSpPr>
        <p:spPr>
          <a:xfrm>
            <a:off x="10209866" y="244475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bg1"/>
                </a:solidFill>
              </a:rPr>
              <a:t>Shenzhen</a:t>
            </a:r>
            <a:endParaRPr lang="en-US" altLang="zh-CN" sz="1000" cap="all">
              <a:solidFill>
                <a:schemeClr val="bg1"/>
              </a:solidFill>
            </a:endParaRPr>
          </a:p>
          <a:p>
            <a:r>
              <a:rPr lang="en-US" altLang="zh-CN" sz="1000" cap="all">
                <a:solidFill>
                  <a:schemeClr val="bg1"/>
                </a:solidFill>
              </a:rPr>
              <a:t>UNIVERSITY</a:t>
            </a:r>
            <a:endParaRPr lang="zh-CN" altLang="en-US" sz="1000" cap="all">
              <a:solidFill>
                <a:schemeClr val="bg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文本占位符 1"/>
          <p:cNvSpPr txBox="1"/>
          <p:nvPr userDrawn="1"/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100" b="0" i="0" kern="1200" baseline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Segoe UI Light" charset="0"/>
              </a:rPr>
              <a:t>OfficePLUS.cn</a:t>
            </a:r>
            <a:endParaRPr kumimoji="1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Segoe UI Light" charset="0"/>
            </a:endParaRPr>
          </a:p>
        </p:txBody>
      </p:sp>
      <p:sp>
        <p:nvSpPr>
          <p:cNvPr id="13" name="文本占位符 2"/>
          <p:cNvSpPr txBox="1"/>
          <p:nvPr userDrawn="1"/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200" b="0" i="0" kern="1200" baseline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Microsoft YaHei Light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中文 黑体</a:t>
            </a: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英文 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Arial</a:t>
            </a: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标题 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1.0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正文 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1.25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https://pixabay.com/ (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免费可商用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</a:t>
            </a: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本网站所提供的任何信息内容（包括但不限于 </a:t>
            </a:r>
            <a:r>
              <a:rPr kumimoji="1" lang="en-GB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PPT 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模板、</a:t>
            </a:r>
            <a:r>
              <a:rPr kumimoji="1" lang="en-GB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Word 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文档、</a:t>
            </a:r>
            <a:r>
              <a:rPr kumimoji="1" lang="en-GB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Excel 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图表、图片素材等）均受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《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中华人民共和国著作权法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》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、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《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信息网络传播权保护条例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》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及其他适用的法律法规的保护，未经权利人书面明确授权，信息内容的任何部分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(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包括图片或图表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不得被全部或部分的复制、传播、销售，否则将承担法律责任。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en-US" altLang="zh-CN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OfficePLUS</a:t>
            </a: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4" name="文本占位符 4"/>
          <p:cNvSpPr txBox="1"/>
          <p:nvPr userDrawn="1"/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65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标注</a:t>
            </a:r>
            <a:endParaRPr kumimoji="1" lang="zh-CN" altLang="en-US" sz="186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7"/>
          <p:cNvSpPr txBox="1"/>
          <p:nvPr userDrawn="1"/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200" b="0" i="0" kern="1200" baseline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Microsoft YaHei Light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字体使用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行距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素材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声明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作者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46ED-7A57-4FAD-960C-25C9ACD886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1F175-5442-2040-97B8-49AF585ECDC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39FF8-519D-344A-B6A9-7BF383F4D0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0209866" y="244475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bg1"/>
                </a:solidFill>
              </a:rPr>
              <a:t>Shenzhen</a:t>
            </a:r>
            <a:endParaRPr lang="en-US" altLang="zh-CN" sz="1000" cap="all">
              <a:solidFill>
                <a:schemeClr val="bg1"/>
              </a:solidFill>
            </a:endParaRPr>
          </a:p>
          <a:p>
            <a:r>
              <a:rPr lang="en-US" altLang="zh-CN" sz="1000" cap="all">
                <a:solidFill>
                  <a:schemeClr val="bg1"/>
                </a:solidFill>
              </a:rPr>
              <a:t>UNIVERSITY</a:t>
            </a:r>
            <a:endParaRPr lang="zh-CN" altLang="en-US" sz="1000" cap="all">
              <a:solidFill>
                <a:schemeClr val="bg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0209866" y="244475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Shenzhen</a:t>
            </a:r>
            <a:endParaRPr lang="en-US" altLang="zh-CN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UNIVERSITY</a:t>
            </a:r>
            <a:endParaRPr lang="zh-CN" altLang="en-US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0209866" y="244475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Shenzhen</a:t>
            </a:r>
            <a:endParaRPr lang="en-US" altLang="zh-CN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UNIVERSITY</a:t>
            </a:r>
            <a:endParaRPr lang="zh-CN" altLang="en-US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/>
        </p:nvSpPr>
        <p:spPr>
          <a:xfrm>
            <a:off x="10209866" y="244475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Shenzhen</a:t>
            </a:r>
            <a:endParaRPr lang="en-US" altLang="zh-CN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UNIVERSITY</a:t>
            </a:r>
            <a:endParaRPr lang="zh-CN" altLang="en-US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1"/>
            <a:ext cx="4684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209866" y="244475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Shenzhen</a:t>
            </a:r>
            <a:endParaRPr lang="en-US" altLang="zh-CN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CN" sz="10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UNIVERSITY</a:t>
            </a:r>
            <a:endParaRPr lang="zh-CN" altLang="en-US" sz="1000" cap="al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31838" y="5998954"/>
            <a:ext cx="1888337" cy="30777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just"/>
            <a:r>
              <a:rPr lang="en-US" altLang="zh-CN" sz="1000" b="1">
                <a:solidFill>
                  <a:schemeClr val="bg1"/>
                </a:solidFill>
              </a:rPr>
              <a:t>S</a:t>
            </a:r>
            <a:r>
              <a:rPr lang="zh-CN" altLang="en-US" sz="1000" b="1">
                <a:solidFill>
                  <a:schemeClr val="bg1"/>
                </a:solidFill>
              </a:rPr>
              <a:t>ea, all water, recedes a rivers</a:t>
            </a:r>
            <a:r>
              <a:rPr lang="en-US" altLang="zh-CN" sz="1000" b="1">
                <a:solidFill>
                  <a:schemeClr val="bg1"/>
                </a:solidFill>
              </a:rPr>
              <a:t>;</a:t>
            </a:r>
            <a:endParaRPr lang="en-US" altLang="zh-CN" sz="1000" b="1">
              <a:solidFill>
                <a:schemeClr val="bg1"/>
              </a:solidFill>
            </a:endParaRPr>
          </a:p>
          <a:p>
            <a:pPr algn="just"/>
            <a:r>
              <a:rPr lang="zh-CN" altLang="en-US" sz="1000" b="1">
                <a:solidFill>
                  <a:schemeClr val="bg1"/>
                </a:solidFill>
              </a:rPr>
              <a:t>utmost wit listens to all sides</a:t>
            </a:r>
            <a:r>
              <a:rPr lang="en-US" altLang="zh-CN" sz="1000" b="1">
                <a:solidFill>
                  <a:schemeClr val="bg1"/>
                </a:solidFill>
              </a:rPr>
              <a:t>.</a:t>
            </a:r>
            <a:endParaRPr lang="zh-CN" altLang="en-US" sz="1000" b="1">
              <a:solidFill>
                <a:schemeClr val="bg1"/>
              </a:solidFill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731838" y="2196223"/>
            <a:ext cx="3125794" cy="1606508"/>
            <a:chOff x="3834754" y="2495699"/>
            <a:chExt cx="3125794" cy="1606508"/>
          </a:xfrm>
        </p:grpSpPr>
        <p:sp>
          <p:nvSpPr>
            <p:cNvPr id="8" name="文本框 7"/>
            <p:cNvSpPr txBox="1"/>
            <p:nvPr/>
          </p:nvSpPr>
          <p:spPr>
            <a:xfrm>
              <a:off x="3839501" y="2495699"/>
              <a:ext cx="3121047" cy="9233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6000">
                  <a:solidFill>
                    <a:schemeClr val="bg1"/>
                  </a:solidFill>
                </a:rPr>
                <a:t>THANKS</a:t>
              </a:r>
              <a:endParaRPr lang="zh-CN" altLang="en-US" sz="6000">
                <a:solidFill>
                  <a:schemeClr val="bg1"/>
                </a:solidFill>
              </a:endParaRPr>
            </a:p>
          </p:txBody>
        </p:sp>
        <p:grpSp>
          <p:nvGrpSpPr>
            <p:cNvPr id="9" name="组合 8"/>
            <p:cNvGrpSpPr/>
            <p:nvPr userDrawn="1"/>
          </p:nvGrpSpPr>
          <p:grpSpPr>
            <a:xfrm>
              <a:off x="3834754" y="3397344"/>
              <a:ext cx="1124118" cy="704863"/>
              <a:chOff x="2468044" y="3339787"/>
              <a:chExt cx="1124118" cy="704863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2552710" y="3339787"/>
                <a:ext cx="10394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200">
                    <a:solidFill>
                      <a:schemeClr val="bg1"/>
                    </a:solidFill>
                  </a:rPr>
                  <a:t>For Your Attention </a:t>
                </a:r>
                <a:endParaRPr lang="zh-CN" altLang="en-US" sz="2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2468044" y="3736873"/>
                <a:ext cx="10114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endParaRPr lang="zh-CN" altLang="en-US" sz="22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1" name="组合 20"/>
          <p:cNvGrpSpPr/>
          <p:nvPr userDrawn="1"/>
        </p:nvGrpSpPr>
        <p:grpSpPr>
          <a:xfrm rot="20394303">
            <a:off x="3221945" y="-1575994"/>
            <a:ext cx="11439261" cy="11910951"/>
            <a:chOff x="3439566" y="1666270"/>
            <a:chExt cx="11439261" cy="11910951"/>
          </a:xfrm>
        </p:grpSpPr>
        <p:grpSp>
          <p:nvGrpSpPr>
            <p:cNvPr id="22" name="组合 21"/>
            <p:cNvGrpSpPr/>
            <p:nvPr/>
          </p:nvGrpSpPr>
          <p:grpSpPr>
            <a:xfrm rot="4029167">
              <a:off x="8779335" y="1665563"/>
              <a:ext cx="6098786" cy="6100199"/>
              <a:chOff x="18351500" y="3723568"/>
              <a:chExt cx="4878842" cy="4879972"/>
            </a:xfrm>
          </p:grpSpPr>
          <p:sp>
            <p:nvSpPr>
              <p:cNvPr id="26" name="Freeform 6"/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7"/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 rot="14829167">
              <a:off x="3440583" y="4789517"/>
              <a:ext cx="8786687" cy="8788722"/>
              <a:chOff x="18351500" y="3723568"/>
              <a:chExt cx="4878842" cy="4879972"/>
            </a:xfrm>
          </p:grpSpPr>
          <p:sp>
            <p:nvSpPr>
              <p:cNvPr id="24" name="Freeform 6"/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74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7"/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8" name="文本框 27"/>
          <p:cNvSpPr txBox="1"/>
          <p:nvPr userDrawn="1"/>
        </p:nvSpPr>
        <p:spPr>
          <a:xfrm>
            <a:off x="10209866" y="244475"/>
            <a:ext cx="1245534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000" cap="all">
                <a:solidFill>
                  <a:schemeClr val="bg1"/>
                </a:solidFill>
              </a:rPr>
              <a:t>Shenzhen</a:t>
            </a:r>
            <a:endParaRPr lang="en-US" altLang="zh-CN" sz="1000" cap="all">
              <a:solidFill>
                <a:schemeClr val="bg1"/>
              </a:solidFill>
            </a:endParaRPr>
          </a:p>
          <a:p>
            <a:r>
              <a:rPr lang="en-US" altLang="zh-CN" sz="1000" cap="all">
                <a:solidFill>
                  <a:schemeClr val="bg1"/>
                </a:solidFill>
              </a:rPr>
              <a:t>UNIVERSITY</a:t>
            </a:r>
            <a:endParaRPr lang="zh-CN" altLang="en-US" sz="1000" cap="all">
              <a:solidFill>
                <a:schemeClr val="bg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形状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文本占位符 1"/>
          <p:cNvSpPr txBox="1"/>
          <p:nvPr userDrawn="1"/>
        </p:nvSpPr>
        <p:spPr>
          <a:xfrm>
            <a:off x="440603" y="182445"/>
            <a:ext cx="1657138" cy="2872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100" b="0" i="0" kern="1200" baseline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Segoe UI Light" charset="0"/>
              </a:rPr>
              <a:t>OfficePLUS.cn</a:t>
            </a:r>
            <a:endParaRPr kumimoji="1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Segoe UI Light" charset="0"/>
            </a:endParaRPr>
          </a:p>
        </p:txBody>
      </p:sp>
      <p:sp>
        <p:nvSpPr>
          <p:cNvPr id="13" name="文本占位符 2"/>
          <p:cNvSpPr txBox="1"/>
          <p:nvPr userDrawn="1"/>
        </p:nvSpPr>
        <p:spPr>
          <a:xfrm>
            <a:off x="4153012" y="759876"/>
            <a:ext cx="7074345" cy="539918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200" b="0" i="0" kern="1200" baseline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Microsoft YaHei Light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中文 黑体</a:t>
            </a: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英文 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Arial</a:t>
            </a: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标题 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1.0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正文 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1.25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https://pixabay.com/ (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免费可商用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</a:t>
            </a: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本网站所提供的任何信息内容（包括但不限于 </a:t>
            </a:r>
            <a:r>
              <a:rPr kumimoji="1" lang="en-GB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PPT 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模板、</a:t>
            </a:r>
            <a:r>
              <a:rPr kumimoji="1" lang="en-GB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Word 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文档、</a:t>
            </a:r>
            <a:r>
              <a:rPr kumimoji="1" lang="en-GB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Excel 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图表、图片素材等）均受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《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中华人民共和国著作权法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》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、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《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信息网络传播权保护条例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》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及其他适用的法律法规的保护，未经权利人书面明确授权，信息内容的任何部分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(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包括图片或图表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不得被全部或部分的复制、传播、销售，否则将承担法律责任。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en-US" altLang="zh-CN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OfficePLUS</a:t>
            </a:r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4" name="文本占位符 4"/>
          <p:cNvSpPr txBox="1"/>
          <p:nvPr userDrawn="1"/>
        </p:nvSpPr>
        <p:spPr>
          <a:xfrm>
            <a:off x="440603" y="759873"/>
            <a:ext cx="1657138" cy="44026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65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标注</a:t>
            </a:r>
            <a:endParaRPr kumimoji="1" lang="zh-CN" altLang="en-US" sz="186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7"/>
          <p:cNvSpPr txBox="1"/>
          <p:nvPr userDrawn="1"/>
        </p:nvSpPr>
        <p:spPr>
          <a:xfrm>
            <a:off x="2378000" y="759876"/>
            <a:ext cx="1494754" cy="539918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200" b="0" i="0" kern="1200" baseline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Microsoft YaHei Light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字体使用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行距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素材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声明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作者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"/>
            <a:ext cx="12192000" cy="6511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886691" y="144228"/>
            <a:ext cx="3819097" cy="36270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61913" y="85346"/>
            <a:ext cx="724778" cy="48047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4738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3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867340" y="1135615"/>
            <a:ext cx="10457309" cy="172399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600" b="1">
                <a:solidFill>
                  <a:srgbClr val="003E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Efficient Query Rewrite Rule Discovery via </a:t>
            </a:r>
            <a:endParaRPr lang="en-US" altLang="zh-CN" sz="3600" b="1">
              <a:solidFill>
                <a:srgbClr val="003E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3600" b="1">
                <a:solidFill>
                  <a:srgbClr val="003E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Standardized Enumeration and Learning-to-Rank</a:t>
            </a:r>
            <a:endParaRPr lang="en-US" altLang="zh-CN" sz="3600" b="1" dirty="0">
              <a:solidFill>
                <a:srgbClr val="003E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8020" y="2607310"/>
            <a:ext cx="10456545" cy="13119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Yuan Zhang, Yuxing Chen, Yuekun Yu, Jinbin Huang, Rui Mao,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Anqun Pan, Lixiong Zheng, Jianbin Qin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200">
              <a:defRPr/>
            </a:pPr>
            <a:endParaRPr lang="zh-CN" altLang="en-US" sz="240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219325" y="4299585"/>
            <a:ext cx="3326765" cy="1560195"/>
            <a:chOff x="2705499" y="745461"/>
            <a:chExt cx="1965917" cy="900000"/>
          </a:xfrm>
        </p:grpSpPr>
        <p:pic>
          <p:nvPicPr>
            <p:cNvPr id="6" name="图形 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05499" y="745461"/>
              <a:ext cx="900000" cy="900000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71416" y="745461"/>
              <a:ext cx="900000" cy="900000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5AE2-E521-4071-B027-062C254CFD7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 descr="69b9644b5bab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860" y="4686300"/>
            <a:ext cx="2066925" cy="850265"/>
          </a:xfrm>
          <a:prstGeom prst="rect">
            <a:avLst/>
          </a:prstGeom>
        </p:spPr>
      </p:pic>
      <p:pic>
        <p:nvPicPr>
          <p:cNvPr id="5" name="图片 4" descr="徽标, 公司名称&#10;&#10;描述已自动生成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51" t="21699" r="31491" b="19083"/>
          <a:stretch>
            <a:fillRect/>
          </a:stretch>
        </p:blipFill>
        <p:spPr>
          <a:xfrm>
            <a:off x="5865066" y="4298822"/>
            <a:ext cx="1712929" cy="15605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线连接符 3"/>
          <p:cNvCxnSpPr/>
          <p:nvPr/>
        </p:nvCxnSpPr>
        <p:spPr>
          <a:xfrm>
            <a:off x="0" y="103452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91058" y="950142"/>
            <a:ext cx="7650775" cy="5908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432FF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Calibri" charset="0"/>
                <a:cs typeface="Calibri" charset="0"/>
              </a:rPr>
              <a:t>Background &amp; Motivation</a:t>
            </a:r>
            <a:endParaRPr lang="en-US" altLang="zh-CN" sz="2800" dirty="0">
              <a:latin typeface="Calibri" charset="0"/>
              <a:cs typeface="Calibri" charset="0"/>
            </a:endParaRPr>
          </a:p>
          <a:p>
            <a:pPr marL="457200" indent="-457200">
              <a:lnSpc>
                <a:spcPct val="150000"/>
              </a:lnSpc>
              <a:buClr>
                <a:srgbClr val="0432FF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800">
                <a:latin typeface="Calibri" charset="0"/>
                <a:ea typeface="PingFang SC Regular" panose="020B0400000000000000" charset="-122"/>
                <a:cs typeface="Calibri" charset="0"/>
                <a:sym typeface="+mn-ea"/>
              </a:rPr>
              <a:t>Limitations of SOTA</a:t>
            </a:r>
            <a:endParaRPr lang="en-US" altLang="zh-CN" sz="2800">
              <a:latin typeface="Calibri" charset="0"/>
              <a:ea typeface="PingFang SC Regular" panose="020B0400000000000000" charset="-122"/>
              <a:cs typeface="Calibri" charset="0"/>
              <a:sym typeface="+mn-ea"/>
            </a:endParaRPr>
          </a:p>
          <a:p>
            <a:pPr marL="457200" indent="-457200">
              <a:lnSpc>
                <a:spcPct val="150000"/>
              </a:lnSpc>
              <a:buClr>
                <a:srgbClr val="0432FF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Calibri" charset="0"/>
                <a:cs typeface="Calibri" charset="0"/>
              </a:rPr>
              <a:t>Contribution</a:t>
            </a:r>
            <a:endParaRPr lang="en-US" altLang="zh-CN" sz="2800" dirty="0">
              <a:latin typeface="Calibri" charset="0"/>
              <a:cs typeface="Calibri" charset="0"/>
            </a:endParaRPr>
          </a:p>
          <a:p>
            <a:pPr marL="457200" indent="-457200">
              <a:lnSpc>
                <a:spcPct val="150000"/>
              </a:lnSpc>
              <a:buClr>
                <a:srgbClr val="0432FF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Calibri" charset="0"/>
                <a:cs typeface="Calibri" charset="0"/>
              </a:rPr>
              <a:t>Preliminaries</a:t>
            </a:r>
            <a:endParaRPr lang="en-US" altLang="zh-CN" sz="2800" dirty="0">
              <a:latin typeface="Calibri" charset="0"/>
              <a:cs typeface="Calibri" charset="0"/>
            </a:endParaRPr>
          </a:p>
          <a:p>
            <a:pPr marL="457200" indent="-457200" algn="l">
              <a:lnSpc>
                <a:spcPct val="150000"/>
              </a:lnSpc>
              <a:buClr>
                <a:srgbClr val="0432FF"/>
              </a:buClr>
              <a:buSzTx/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Calibri" charset="0"/>
                <a:cs typeface="Calibri" charset="0"/>
                <a:sym typeface="+mn-ea"/>
              </a:rPr>
              <a:t>Key Idea 1 – Standardized Templates</a:t>
            </a:r>
            <a:endParaRPr lang="en-US" altLang="zh-CN" sz="2800" dirty="0">
              <a:latin typeface="Calibri" charset="0"/>
              <a:cs typeface="Calibri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>
                <a:srgbClr val="0432FF"/>
              </a:buClr>
              <a:buSzTx/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Calibri" charset="0"/>
                <a:cs typeface="Calibri" charset="0"/>
                <a:sym typeface="+mn-ea"/>
              </a:rPr>
              <a:t>Key Idea 2 – RTP Deduplicator</a:t>
            </a:r>
            <a:endParaRPr lang="en-US" altLang="zh-CN" sz="2800" dirty="0">
              <a:latin typeface="Calibri" charset="0"/>
              <a:cs typeface="Calibri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buClr>
                <a:srgbClr val="0432FF"/>
              </a:buClr>
              <a:buSzTx/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Calibri" charset="0"/>
                <a:cs typeface="Calibri" charset="0"/>
                <a:sym typeface="+mn-ea"/>
              </a:rPr>
              <a:t>Key Idea 3 – Learning-to-Rank</a:t>
            </a:r>
            <a:endParaRPr lang="en-US" altLang="zh-CN" sz="2800" dirty="0">
              <a:latin typeface="Calibri" charset="0"/>
              <a:cs typeface="Calibri" charset="0"/>
            </a:endParaRPr>
          </a:p>
          <a:p>
            <a:pPr marL="457200" indent="-457200">
              <a:lnSpc>
                <a:spcPct val="150000"/>
              </a:lnSpc>
              <a:buClr>
                <a:srgbClr val="0432FF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Calibri" charset="0"/>
                <a:cs typeface="Calibri" charset="0"/>
              </a:rPr>
              <a:t>Experiments</a:t>
            </a:r>
            <a:endParaRPr lang="en-US" altLang="zh-CN" sz="2800" dirty="0">
              <a:latin typeface="Calibri" charset="0"/>
              <a:cs typeface="Calibri" charset="0"/>
            </a:endParaRPr>
          </a:p>
          <a:p>
            <a:pPr marL="457200" indent="-457200">
              <a:lnSpc>
                <a:spcPct val="150000"/>
              </a:lnSpc>
              <a:buClr>
                <a:srgbClr val="0432FF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Calibri" charset="0"/>
                <a:cs typeface="Calibri" charset="0"/>
              </a:rPr>
              <a:t>Conclusion</a:t>
            </a:r>
            <a:endParaRPr lang="en-US" altLang="zh-CN" sz="2800" dirty="0">
              <a:latin typeface="Calibri" charset="0"/>
              <a:cs typeface="Calibri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5" y="0"/>
            <a:ext cx="12191365" cy="103441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003E9B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4400">
                <a:latin typeface="Calibri" charset="0"/>
                <a:ea typeface="PingFang SC Regular" panose="020B0400000000000000" charset="-122"/>
                <a:cs typeface="Calibri" charset="0"/>
              </a:rPr>
              <a:t>  Contents</a:t>
            </a:r>
            <a:endParaRPr lang="en-US" altLang="zh-CN" sz="4400"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71779" y="1097770"/>
            <a:ext cx="10529460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31800" fontAlgn="auto">
              <a:lnSpc>
                <a:spcPts val="3000"/>
              </a:lnSpc>
              <a:spcBef>
                <a:spcPts val="1200"/>
              </a:spcBef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Real-world queries are complex: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742950" lvl="1" indent="-285750" defTabSz="431800" fontAlgn="auto">
              <a:lnSpc>
                <a:spcPts val="3000"/>
              </a:lnSpc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Most production queries contain </a:t>
            </a:r>
            <a:r>
              <a:rPr lang="en-US" altLang="zh-CN" sz="20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5–8+ nodes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(PostgreSQL, web apps).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742950" lvl="1" indent="-285750" defTabSz="431800" fontAlgn="auto">
              <a:lnSpc>
                <a:spcPts val="3000"/>
              </a:lnSpc>
              <a:spcBef>
                <a:spcPts val="1200"/>
              </a:spcBef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Auto-generated SQL (ORM, AI tools) produces redundant joins/subqueries.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 fontAlgn="auto">
              <a:lnSpc>
                <a:spcPts val="3000"/>
              </a:lnSpc>
              <a:spcBef>
                <a:spcPts val="1200"/>
              </a:spcBef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Manual rules are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incomplete and unsustainable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.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 fontAlgn="auto">
              <a:lnSpc>
                <a:spcPts val="3000"/>
              </a:lnSpc>
              <a:spcBef>
                <a:spcPts val="1200"/>
              </a:spcBef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Existing optimizers leave many queries unoptimized.</a:t>
            </a:r>
            <a:endParaRPr lang="en-US" altLang="zh-CN" sz="2400" b="1" kern="0" dirty="0">
              <a:solidFill>
                <a:schemeClr val="accent1">
                  <a:lumMod val="60000"/>
                  <a:lumOff val="40000"/>
                </a:schemeClr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0"/>
            <a:ext cx="12192635" cy="101409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003E9B"/>
                </a:solidFill>
                <a:latin typeface="+mj-ea"/>
                <a:ea typeface="+mj-ea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4400">
                <a:latin typeface="Calibri" charset="0"/>
                <a:ea typeface="PingFang SC Regular" panose="020B0400000000000000" charset="-122"/>
                <a:cs typeface="Calibri" charset="0"/>
              </a:rPr>
              <a:t>  Backgroud &amp; </a:t>
            </a:r>
            <a:r>
              <a:rPr lang="en-US" altLang="zh-CN" sz="4400" dirty="0">
                <a:latin typeface="Calibri" charset="0"/>
                <a:cs typeface="Calibri" charset="0"/>
                <a:sym typeface="+mn-ea"/>
              </a:rPr>
              <a:t>Motivation</a:t>
            </a:r>
            <a:endParaRPr lang="en-US" altLang="zh-CN" sz="4400"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43" name="灯片编号占位符 4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grpSp>
        <p:nvGrpSpPr>
          <p:cNvPr id="105" name="组合 104"/>
          <p:cNvGrpSpPr/>
          <p:nvPr/>
        </p:nvGrpSpPr>
        <p:grpSpPr>
          <a:xfrm>
            <a:off x="991993" y="3929669"/>
            <a:ext cx="9953347" cy="2874320"/>
            <a:chOff x="1230952" y="3706210"/>
            <a:chExt cx="9953347" cy="2874320"/>
          </a:xfrm>
        </p:grpSpPr>
        <p:grpSp>
          <p:nvGrpSpPr>
            <p:cNvPr id="18" name="组合 17"/>
            <p:cNvGrpSpPr/>
            <p:nvPr/>
          </p:nvGrpSpPr>
          <p:grpSpPr>
            <a:xfrm>
              <a:off x="1401179" y="3706210"/>
              <a:ext cx="2173757" cy="2369507"/>
              <a:chOff x="1175711" y="3421310"/>
              <a:chExt cx="2303373" cy="3167388"/>
            </a:xfrm>
          </p:grpSpPr>
          <p:sp>
            <p:nvSpPr>
              <p:cNvPr id="44" name="矩形: 圆角 43"/>
              <p:cNvSpPr/>
              <p:nvPr/>
            </p:nvSpPr>
            <p:spPr>
              <a:xfrm>
                <a:off x="1180810" y="4666021"/>
                <a:ext cx="2284279" cy="789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Inner Join</a:t>
                </a:r>
                <a:endParaRPr lang="en-US" altLang="zh-CN"/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1175711" y="5889265"/>
                <a:ext cx="789439" cy="6994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title</a:t>
                </a:r>
                <a:endParaRPr lang="en-US" altLang="zh-CN"/>
              </a:p>
            </p:txBody>
          </p:sp>
          <p:sp>
            <p:nvSpPr>
              <p:cNvPr id="46" name="矩形: 圆角 45"/>
              <p:cNvSpPr/>
              <p:nvPr/>
            </p:nvSpPr>
            <p:spPr>
              <a:xfrm>
                <a:off x="2039551" y="5884632"/>
                <a:ext cx="1439533" cy="6994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movie_info</a:t>
                </a:r>
                <a:endParaRPr lang="en-US" altLang="zh-CN"/>
              </a:p>
            </p:txBody>
          </p:sp>
          <p:cxnSp>
            <p:nvCxnSpPr>
              <p:cNvPr id="47" name="直接箭头连接符 46"/>
              <p:cNvCxnSpPr>
                <a:stCxn id="45" idx="0"/>
              </p:cNvCxnSpPr>
              <p:nvPr/>
            </p:nvCxnSpPr>
            <p:spPr>
              <a:xfrm flipH="1" flipV="1">
                <a:off x="1570430" y="5455560"/>
                <a:ext cx="1" cy="4337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46" idx="0"/>
              </p:cNvCxnSpPr>
              <p:nvPr/>
            </p:nvCxnSpPr>
            <p:spPr>
              <a:xfrm flipV="1">
                <a:off x="2759317" y="5439069"/>
                <a:ext cx="0" cy="4455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矩形: 圆角 48"/>
              <p:cNvSpPr/>
              <p:nvPr/>
            </p:nvSpPr>
            <p:spPr>
              <a:xfrm>
                <a:off x="1180810" y="3421310"/>
                <a:ext cx="2284278" cy="789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title.id=1</a:t>
                </a:r>
                <a:endParaRPr lang="zh-CN" altLang="en-US"/>
              </a:p>
            </p:txBody>
          </p:sp>
          <p:cxnSp>
            <p:nvCxnSpPr>
              <p:cNvPr id="50" name="直接箭头连接符 49"/>
              <p:cNvCxnSpPr>
                <a:stCxn id="44" idx="0"/>
                <a:endCxn id="49" idx="2"/>
              </p:cNvCxnSpPr>
              <p:nvPr/>
            </p:nvCxnSpPr>
            <p:spPr>
              <a:xfrm flipV="1">
                <a:off x="2322950" y="4210849"/>
                <a:ext cx="0" cy="4551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箭头: 右 19"/>
            <p:cNvSpPr/>
            <p:nvPr/>
          </p:nvSpPr>
          <p:spPr>
            <a:xfrm>
              <a:off x="4024008" y="4645749"/>
              <a:ext cx="4143983" cy="519801"/>
            </a:xfrm>
            <a:prstGeom prst="rightArrow">
              <a:avLst/>
            </a:prstGeom>
            <a:ln w="381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505989" y="4371275"/>
              <a:ext cx="31800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/>
                <a:t>Predicate pushdown rewriting</a:t>
              </a:r>
              <a:endParaRPr lang="en-US" altLang="zh-CN"/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8726767" y="3720481"/>
              <a:ext cx="2457532" cy="2366041"/>
              <a:chOff x="8726767" y="3720481"/>
              <a:chExt cx="2457532" cy="2366041"/>
            </a:xfrm>
          </p:grpSpPr>
          <p:sp>
            <p:nvSpPr>
              <p:cNvPr id="53" name="矩形: 圆角 52"/>
              <p:cNvSpPr/>
              <p:nvPr/>
            </p:nvSpPr>
            <p:spPr>
              <a:xfrm>
                <a:off x="8726767" y="3720481"/>
                <a:ext cx="2155737" cy="67328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Inner Join</a:t>
                </a:r>
                <a:endParaRPr lang="en-US" altLang="zh-CN"/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8738828" y="5563280"/>
                <a:ext cx="881771" cy="5232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title</a:t>
                </a:r>
                <a:endParaRPr lang="en-US" altLang="zh-CN"/>
              </a:p>
            </p:txBody>
          </p:sp>
          <p:sp>
            <p:nvSpPr>
              <p:cNvPr id="55" name="矩形: 圆角 54"/>
              <p:cNvSpPr/>
              <p:nvPr/>
            </p:nvSpPr>
            <p:spPr>
              <a:xfrm>
                <a:off x="9778040" y="5543524"/>
                <a:ext cx="1406259" cy="5232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movie_info</a:t>
                </a:r>
                <a:endParaRPr lang="en-US" altLang="zh-CN"/>
              </a:p>
            </p:txBody>
          </p:sp>
          <p:cxnSp>
            <p:nvCxnSpPr>
              <p:cNvPr id="56" name="直接箭头连接符 55"/>
              <p:cNvCxnSpPr>
                <a:stCxn id="54" idx="0"/>
                <a:endCxn id="58" idx="2"/>
              </p:cNvCxnSpPr>
              <p:nvPr/>
            </p:nvCxnSpPr>
            <p:spPr>
              <a:xfrm flipV="1">
                <a:off x="9179714" y="5286661"/>
                <a:ext cx="0" cy="2766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55" idx="0"/>
              </p:cNvCxnSpPr>
              <p:nvPr/>
            </p:nvCxnSpPr>
            <p:spPr>
              <a:xfrm flipV="1">
                <a:off x="10481170" y="4384815"/>
                <a:ext cx="0" cy="11587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矩形: 圆角 57"/>
              <p:cNvSpPr/>
              <p:nvPr/>
            </p:nvSpPr>
            <p:spPr>
              <a:xfrm>
                <a:off x="8738828" y="4696011"/>
                <a:ext cx="881771" cy="59065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id=1</a:t>
                </a:r>
                <a:endParaRPr lang="zh-CN" altLang="en-US"/>
              </a:p>
            </p:txBody>
          </p:sp>
          <p:cxnSp>
            <p:nvCxnSpPr>
              <p:cNvPr id="64" name="直接箭头连接符 63"/>
              <p:cNvCxnSpPr>
                <a:stCxn id="58" idx="0"/>
              </p:cNvCxnSpPr>
              <p:nvPr/>
            </p:nvCxnSpPr>
            <p:spPr>
              <a:xfrm flipV="1">
                <a:off x="9179714" y="4393767"/>
                <a:ext cx="1" cy="3022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/>
            <p:cNvSpPr txBox="1"/>
            <p:nvPr/>
          </p:nvSpPr>
          <p:spPr>
            <a:xfrm>
              <a:off x="1230952" y="6196694"/>
              <a:ext cx="2505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Runtime: 17952.84 ms</a:t>
              </a:r>
              <a:endParaRPr lang="zh-CN" altLang="en-US"/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8787439" y="6211198"/>
              <a:ext cx="1992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Runtime: 0.45 ms</a:t>
              </a:r>
              <a:endParaRPr lang="zh-CN" altLang="en-US"/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4156175" y="6182883"/>
              <a:ext cx="41960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dirty="0"/>
                <a:t>The runtime difference is</a:t>
              </a:r>
              <a:r>
                <a:rPr lang="en-US" altLang="zh-CN" b="1" dirty="0">
                  <a:solidFill>
                    <a:srgbClr val="FF0000"/>
                  </a:solidFill>
                  <a:latin typeface="Arial Bold" panose="020B0604020202090204" charset="0"/>
                  <a:cs typeface="Arial Bold" panose="020B0604020202090204" charset="0"/>
                </a:rPr>
                <a:t> 40,000 times!</a:t>
              </a:r>
              <a:endParaRPr lang="en-US" altLang="zh-CN" b="1" dirty="0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endParaRPr>
            </a:p>
          </p:txBody>
        </p:sp>
      </p:grp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71830" y="1156970"/>
            <a:ext cx="1061148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defTabSz="431800" fontAlgn="auto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Brute-force enumeration of plan templates + constraints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742950" lvl="1" indent="-285750" algn="l" defTabSz="431800" fontAlgn="auto">
              <a:lnSpc>
                <a:spcPts val="3000"/>
              </a:lnSpc>
              <a:spcBef>
                <a:spcPts val="12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4-node rules: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4,320 CPU hours (~9 days), &gt;90% redundant, &gt;50% trivial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742950" lvl="1" indent="-285750" algn="l" defTabSz="431800" fontAlgn="auto">
              <a:lnSpc>
                <a:spcPts val="3000"/>
              </a:lnSpc>
              <a:spcBef>
                <a:spcPts val="12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5-node rules: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~6 months on 64-CPU machine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742950" lvl="1" indent="-285750" algn="l" defTabSz="431800" fontAlgn="auto">
              <a:lnSpc>
                <a:spcPts val="3000"/>
              </a:lnSpc>
              <a:spcBef>
                <a:spcPts val="12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6+ node rules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: Infeasible (decades)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algn="l" defTabSz="431800" fontAlgn="auto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Cannot handle real workloads (most queries &gt;4 nodes)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algn="l" defTabSz="431800" fontAlgn="auto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No effective prioritization → rule base clogged with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low-value rules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635" y="0"/>
            <a:ext cx="12192000" cy="98234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003E9B"/>
                </a:solidFill>
                <a:latin typeface="+mj-ea"/>
                <a:ea typeface="+mj-ea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4400">
                <a:latin typeface="Calibri" charset="0"/>
                <a:ea typeface="PingFang SC Regular" panose="020B0400000000000000" charset="-122"/>
                <a:cs typeface="Calibri" charset="0"/>
              </a:rPr>
              <a:t>  Limitations of SOTA (WeTune[1])</a:t>
            </a:r>
            <a:endParaRPr lang="en-US" altLang="zh-CN" sz="4400"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43" name="灯片编号占位符 4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1537" y="6531680"/>
            <a:ext cx="11558400" cy="33611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lnSpc>
                <a:spcPct val="150000"/>
              </a:lnSpc>
            </a:pPr>
            <a:r>
              <a:rPr lang="en-US" altLang="zh-CN" sz="1200" kern="100" dirty="0">
                <a:latin typeface="Times New Roman" panose="02020503050405090304" pitchFamily="18" charset="0"/>
                <a:ea typeface="宋体" pitchFamily="2" charset="-122"/>
              </a:rPr>
              <a:t>[1] </a:t>
            </a:r>
            <a:r>
              <a:rPr lang="en-US" altLang="zh-CN" sz="12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Wang, </a:t>
            </a:r>
            <a:r>
              <a:rPr lang="en-US" altLang="zh-CN" sz="1200" kern="100" dirty="0" err="1">
                <a:effectLst/>
                <a:latin typeface="Times New Roman" panose="02020503050405090304" pitchFamily="18" charset="0"/>
                <a:ea typeface="宋体" pitchFamily="2" charset="-122"/>
              </a:rPr>
              <a:t>Zhaoguo</a:t>
            </a:r>
            <a:r>
              <a:rPr lang="en-US" altLang="zh-CN" sz="12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, et al. "WeTune: Automatic Discovery and Verification of Query Rewrite Rules." Proceedings of the 2022 International Conference on Management of Data. 2022..</a:t>
            </a:r>
            <a:endParaRPr lang="en-US" altLang="zh-CN" sz="1200" kern="100" dirty="0"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418662" y="4712170"/>
            <a:ext cx="9145195" cy="1828800"/>
            <a:chOff x="1525589" y="4093680"/>
            <a:chExt cx="9145195" cy="1828800"/>
          </a:xfrm>
        </p:grpSpPr>
        <p:grpSp>
          <p:nvGrpSpPr>
            <p:cNvPr id="5" name="组合 4"/>
            <p:cNvGrpSpPr/>
            <p:nvPr/>
          </p:nvGrpSpPr>
          <p:grpSpPr>
            <a:xfrm>
              <a:off x="1525589" y="4764732"/>
              <a:ext cx="8664677" cy="486697"/>
              <a:chOff x="1355983" y="4749983"/>
              <a:chExt cx="8664677" cy="486697"/>
            </a:xfrm>
          </p:grpSpPr>
          <p:sp>
            <p:nvSpPr>
              <p:cNvPr id="4" name="矩形: 圆角 2"/>
              <p:cNvSpPr/>
              <p:nvPr/>
            </p:nvSpPr>
            <p:spPr>
              <a:xfrm>
                <a:off x="1355983" y="4749983"/>
                <a:ext cx="8664677" cy="48669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矩形: 圆角 3"/>
              <p:cNvSpPr/>
              <p:nvPr/>
            </p:nvSpPr>
            <p:spPr>
              <a:xfrm>
                <a:off x="1355983" y="4749983"/>
                <a:ext cx="8092817" cy="486697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9618406" y="4093680"/>
              <a:ext cx="0" cy="182880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9618406" y="4302602"/>
              <a:ext cx="1052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b="1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96.7%</a:t>
              </a:r>
              <a:endParaRPr lang="zh-CN" altLang="en-US" b="1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843339" y="5317960"/>
              <a:ext cx="5295265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1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Total time for 4-node rule enumeration:137h 59m 28s</a:t>
              </a:r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578544" y="4328630"/>
              <a:ext cx="4116070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1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Rule validator duration: 133h</a:t>
              </a:r>
              <a:r>
                <a:rPr lang="zh-CN" altLang="en-US" sz="1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 </a:t>
              </a:r>
              <a:r>
                <a:rPr lang="en-US" altLang="zh-CN" sz="1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33m 38s</a:t>
              </a:r>
              <a:endParaRPr lang="zh-CN" altLang="en-US" dirty="0"/>
            </a:p>
          </p:txBody>
        </p:sp>
      </p:grpSp>
      <p:cxnSp>
        <p:nvCxnSpPr>
          <p:cNvPr id="8" name="直线连接符 3"/>
          <p:cNvCxnSpPr/>
          <p:nvPr/>
        </p:nvCxnSpPr>
        <p:spPr>
          <a:xfrm>
            <a:off x="0" y="1011026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55929" y="1615295"/>
            <a:ext cx="10529460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31800" fontAlgn="auto">
              <a:lnSpc>
                <a:spcPct val="150000"/>
              </a:lnSpc>
              <a:spcBef>
                <a:spcPts val="1200"/>
              </a:spcBef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Query rewriting is essential for database performance, yet automated rule discovery remains challenging due to exponential search spaces, massive redundancy (</a:t>
            </a: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&gt;90%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), and poor scalability beyond 4-node plans.</a:t>
            </a: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342900" indent="-342900" defTabSz="431800" fontAlgn="auto">
              <a:lnSpc>
                <a:spcPct val="150000"/>
              </a:lnSpc>
              <a:spcBef>
                <a:spcPts val="1200"/>
              </a:spcBef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SLER (Standardized Enumeration + Learning-to-Rank) is the first scalable system that discovers &gt;1 million empirically validated rewrite rules — </a:t>
            </a: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the largest rule library to date.</a:t>
            </a:r>
            <a:endParaRPr lang="en-US" altLang="zh-CN" sz="2400" b="1" kern="0" dirty="0">
              <a:solidFill>
                <a:srgbClr val="C00000"/>
              </a:solidFill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  <a:sym typeface="+mn-lt"/>
            </a:endParaRPr>
          </a:p>
          <a:p>
            <a:pPr marL="342900" indent="-342900" defTabSz="431800" fontAlgn="auto">
              <a:lnSpc>
                <a:spcPct val="150000"/>
              </a:lnSpc>
              <a:spcBef>
                <a:spcPts val="1200"/>
              </a:spcBef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Supports complex templates up to </a:t>
            </a: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channel-level depth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 (previously infeasible).</a:t>
            </a:r>
            <a:endParaRPr lang="en-US" altLang="zh-CN" sz="2400" kern="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0"/>
            <a:ext cx="12192000" cy="101346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003E9B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4400" dirty="0">
                <a:latin typeface="Calibri" charset="0"/>
                <a:cs typeface="Calibri" charset="0"/>
                <a:sym typeface="+mn-ea"/>
              </a:rPr>
              <a:t>  Contribution</a:t>
            </a:r>
            <a:endParaRPr lang="en-US" altLang="zh-CN" sz="4400"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43" name="灯片编号占位符 4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547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1885" y="1676400"/>
            <a:ext cx="6884035" cy="3933825"/>
          </a:xfrm>
          <a:prstGeom prst="rect">
            <a:avLst/>
          </a:prstGeom>
        </p:spPr>
      </p:pic>
      <p:cxnSp>
        <p:nvCxnSpPr>
          <p:cNvPr id="21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-635" y="0"/>
            <a:ext cx="12192000" cy="101409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003E9B"/>
                </a:solidFill>
                <a:latin typeface="+mj-ea"/>
                <a:ea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4400">
                <a:latin typeface="Calibri" charset="0"/>
                <a:ea typeface="PingFang SC Regular" panose="020B0400000000000000" charset="-122"/>
                <a:cs typeface="Calibri" charset="0"/>
                <a:sym typeface="+mn-ea"/>
              </a:rPr>
              <a:t>  SLER Overview</a:t>
            </a:r>
            <a:endParaRPr lang="en-US" altLang="zh-CN" sz="4400">
              <a:latin typeface="Calibri" charset="0"/>
              <a:ea typeface="PingFang SC Regular" panose="020B0400000000000000" charset="-122"/>
              <a:cs typeface="Calibri" charset="0"/>
              <a:sym typeface="+mn-ea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46ED-7A57-4FAD-960C-25C9ACD886ED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71805" y="1520190"/>
            <a:ext cx="4352290" cy="386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Standardized Template Enumerator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– drastically reduces search space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RTP-based Deduplicator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 – eliminates redundancy at template-pair level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LambdaMART Rule Ranker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– learning-to-rank for high-value rules + pre-filtering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cxnSp>
        <p:nvCxnSpPr>
          <p:cNvPr id="8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7580" y="3429000"/>
            <a:ext cx="7736840" cy="3268345"/>
          </a:xfrm>
          <a:prstGeom prst="rect">
            <a:avLst/>
          </a:prstGeom>
        </p:spPr>
      </p:pic>
      <p:cxnSp>
        <p:nvCxnSpPr>
          <p:cNvPr id="21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0" y="0"/>
            <a:ext cx="12192635" cy="101409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Key Idea 1 – Standardized Templates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46ED-7A57-4FAD-960C-25C9ACD886ED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55980" y="1123950"/>
                <a:ext cx="10683240" cy="2707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 defTabSz="431800">
                  <a:lnSpc>
                    <a:spcPts val="3000"/>
                  </a:lnSpc>
                  <a:spcBef>
                    <a:spcPts val="1200"/>
                  </a:spcBef>
                  <a:buClrTx/>
                  <a:buSzTx/>
                  <a:buFont typeface="Wingdings" panose="05000000000000000000" charset="0"/>
                  <a:buChar char=""/>
                </a:pPr>
                <a:r>
                  <a:rPr lang="en-US" altLang="zh-CN" sz="2400" b="1" kern="0" dirty="0">
                    <a:solidFill>
                      <a:srgbClr val="C00000"/>
                    </a:solidFill>
                    <a:latin typeface="Times New Roman Bold" panose="02020503050405090304" charset="0"/>
                    <a:ea typeface="微软雅黑" panose="020B0503020204020204" pitchFamily="34" charset="-122"/>
                    <a:cs typeface="Times New Roman Bold" panose="02020503050405090304" charset="0"/>
                    <a:sym typeface="+mn-lt"/>
                  </a:rPr>
                  <a:t> </a:t>
                </a:r>
                <a:r>
                  <a:rPr lang="en-US" altLang="zh-CN" sz="2400" b="1" kern="0" dirty="0">
                    <a:latin typeface="Times New Roman Bold" panose="02020503050405090304" charset="0"/>
                    <a:ea typeface="微软雅黑" panose="020B0503020204020204" pitchFamily="34" charset="-122"/>
                    <a:cs typeface="Times New Roman Bold" panose="02020503050405090304" charset="0"/>
                    <a:sym typeface="+mn-lt"/>
                  </a:rPr>
                  <a:t>Rule definition:</a:t>
                </a:r>
                <a:r>
                  <a:rPr lang="en-US" altLang="zh-CN" sz="2400" kern="0" dirty="0">
                    <a:latin typeface="Times New Roman" panose="02020503050405090304" pitchFamily="18" charset="0"/>
                    <a:ea typeface="微软雅黑" panose="020B0503020204020204" pitchFamily="34" charset="-122"/>
                    <a:cs typeface="Times New Roman" panose="02020503050405090304" pitchFamily="18" charset="0"/>
                    <a:sym typeface="+mn-lt"/>
                  </a:rPr>
                  <a:t> A rule </a:t>
                </a:r>
                <a14:m>
                  <m:oMath xmlns:m="http://schemas.openxmlformats.org/officeDocument/2006/math">
                    <m:r>
                      <a:rPr lang="en-US" altLang="zh-CN" sz="2400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𝑹</m:t>
                    </m:r>
                    <m:r>
                      <a:rPr lang="en-US" altLang="zh-CN" sz="2400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sz="2400" i="1" kern="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kern="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m:t>𝑻</m:t>
                        </m:r>
                      </m:e>
                      <m:sub>
                        <m:r>
                          <a:rPr lang="en-US" altLang="zh-CN" sz="2400" kern="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m:t>𝒔𝒓𝒄</m:t>
                        </m:r>
                      </m:sub>
                    </m:sSub>
                    <m:r>
                      <a:rPr lang="en-US" altLang="zh-CN" sz="2400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sz="2400" i="1" kern="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kern="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m:t>𝑻</m:t>
                        </m:r>
                      </m:e>
                      <m:sub>
                        <m:r>
                          <a:rPr lang="en-US" altLang="zh-CN" sz="2400" kern="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m:t>𝒅𝒆𝒔𝒕</m:t>
                        </m:r>
                      </m:sub>
                    </m:sSub>
                    <m:r>
                      <a:rPr lang="en-US" altLang="zh-CN" sz="2400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,</m:t>
                    </m:r>
                    <m:r>
                      <a:rPr lang="en-US" altLang="zh-CN" sz="2400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𝑴</m:t>
                    </m:r>
                    <m:r>
                      <a:rPr lang="en-US" altLang="zh-CN" sz="2400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,</m:t>
                    </m:r>
                    <m:r>
                      <a:rPr lang="en-US" altLang="zh-CN" sz="2400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𝑪</m:t>
                    </m:r>
                    <m:r>
                      <a:rPr lang="en-US" altLang="zh-CN" sz="2400" kern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sz="2400" kern="0" dirty="0">
                    <a:latin typeface="Times New Roman" panose="02020503050405090304" pitchFamily="18" charset="0"/>
                    <a:ea typeface="微软雅黑" panose="020B0503020204020204" pitchFamily="34" charset="-122"/>
                    <a:cs typeface="Times New Roman" panose="02020503050405090304" pitchFamily="18" charset="0"/>
                    <a:sym typeface="+mn-lt"/>
                  </a:rPr>
                  <a:t> consists of a source template, a target template, rewrite mappings, and constraints.</a:t>
                </a:r>
                <a:endParaRPr lang="en-US" altLang="zh-CN" sz="2400" kern="0" dirty="0"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  <a:sym typeface="+mn-lt"/>
                </a:endParaRPr>
              </a:p>
              <a:p>
                <a:pPr marL="342900" indent="-342900" algn="l" defTabSz="431800">
                  <a:lnSpc>
                    <a:spcPts val="3000"/>
                  </a:lnSpc>
                  <a:spcBef>
                    <a:spcPts val="1200"/>
                  </a:spcBef>
                  <a:buClrTx/>
                  <a:buSzTx/>
                  <a:buFont typeface="Wingdings" panose="05000000000000000000" charset="0"/>
                  <a:buChar char=""/>
                </a:pPr>
                <a:r>
                  <a:rPr lang="en-US" altLang="zh-CN" sz="2400" b="1" kern="0" dirty="0">
                    <a:solidFill>
                      <a:srgbClr val="C00000"/>
                    </a:solidFill>
                    <a:latin typeface="Times New Roman Bold" panose="02020503050405090304" charset="0"/>
                    <a:ea typeface="微软雅黑" panose="020B0503020204020204" pitchFamily="34" charset="-122"/>
                    <a:cs typeface="Times New Roman Bold" panose="02020503050405090304" charset="0"/>
                    <a:sym typeface="+mn-lt"/>
                  </a:rPr>
                  <a:t> </a:t>
                </a:r>
                <a:r>
                  <a:rPr lang="en-US" altLang="zh-CN" sz="2400" b="1" kern="0" dirty="0">
                    <a:latin typeface="Times New Roman Bold" panose="02020503050405090304" charset="0"/>
                    <a:ea typeface="微软雅黑" panose="020B0503020204020204" pitchFamily="34" charset="-122"/>
                    <a:cs typeface="Times New Roman Bold" panose="02020503050405090304" charset="0"/>
                    <a:sym typeface="+mn-lt"/>
                  </a:rPr>
                  <a:t>Mining Process: </a:t>
                </a:r>
                <a:r>
                  <a:rPr lang="en-US" altLang="zh-CN" sz="2400" kern="0" dirty="0">
                    <a:latin typeface="Times New Roman" panose="02020503050405090304" pitchFamily="18" charset="0"/>
                    <a:ea typeface="微软雅黑" panose="020B0503020204020204" pitchFamily="34" charset="-122"/>
                    <a:cs typeface="Times New Roman" panose="02020503050405090304" pitchFamily="18" charset="0"/>
                    <a:sym typeface="+mn-lt"/>
                  </a:rPr>
                  <a:t>1) Select source ( T</a:t>
                </a:r>
                <a:r>
                  <a:rPr lang="en-US" altLang="zh-CN" sz="2400" kern="0" baseline="-25000" dirty="0">
                    <a:latin typeface="Times New Roman" panose="02020503050405090304" pitchFamily="18" charset="0"/>
                    <a:ea typeface="微软雅黑" panose="020B0503020204020204" pitchFamily="34" charset="-122"/>
                    <a:cs typeface="Times New Roman" panose="02020503050405090304" pitchFamily="18" charset="0"/>
                    <a:sym typeface="+mn-lt"/>
                  </a:rPr>
                  <a:t>src</a:t>
                </a:r>
                <a:r>
                  <a:rPr lang="en-US" altLang="zh-CN" sz="2400" kern="0" dirty="0">
                    <a:latin typeface="Times New Roman" panose="02020503050405090304" pitchFamily="18" charset="0"/>
                    <a:ea typeface="微软雅黑" panose="020B0503020204020204" pitchFamily="34" charset="-122"/>
                    <a:cs typeface="Times New Roman" panose="02020503050405090304" pitchFamily="18" charset="0"/>
                    <a:sym typeface="+mn-lt"/>
                  </a:rPr>
                  <a:t>) and target ( T</a:t>
                </a:r>
                <a:r>
                  <a:rPr lang="en-US" altLang="zh-CN" sz="2400" kern="0" baseline="-25000" dirty="0">
                    <a:latin typeface="Times New Roman" panose="02020503050405090304" pitchFamily="18" charset="0"/>
                    <a:ea typeface="微软雅黑" panose="020B0503020204020204" pitchFamily="34" charset="-122"/>
                    <a:cs typeface="Times New Roman" panose="02020503050405090304" pitchFamily="18" charset="0"/>
                    <a:sym typeface="+mn-lt"/>
                  </a:rPr>
                  <a:t>dest</a:t>
                </a:r>
                <a:r>
                  <a:rPr lang="en-US" altLang="zh-CN" sz="2400" kern="0" dirty="0">
                    <a:latin typeface="Times New Roman" panose="02020503050405090304" pitchFamily="18" charset="0"/>
                    <a:ea typeface="微软雅黑" panose="020B0503020204020204" pitchFamily="34" charset="-122"/>
                    <a:cs typeface="Times New Roman" panose="02020503050405090304" pitchFamily="18" charset="0"/>
                    <a:sym typeface="+mn-lt"/>
                  </a:rPr>
                  <a:t>) templates. 2) Enumerate rewriting mappings ( M ). 3) Enumerate the loosest constraint set ( C ) that validates the rule.</a:t>
                </a:r>
                <a:endParaRPr lang="en-US" altLang="zh-CN" sz="2400" kern="0" dirty="0"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  <a:sym typeface="+mn-lt"/>
                </a:endParaRPr>
              </a:p>
              <a:p>
                <a:pPr marL="285750" indent="-285750" algn="l" defTabSz="431800">
                  <a:lnSpc>
                    <a:spcPts val="3000"/>
                  </a:lnSpc>
                  <a:spcBef>
                    <a:spcPts val="1200"/>
                  </a:spcBef>
                  <a:buClrTx/>
                  <a:buSzTx/>
                  <a:buFont typeface="Arial" panose="020B0604020202090204" pitchFamily="34" charset="0"/>
                  <a:buChar char="•"/>
                </a:pPr>
                <a:endParaRPr lang="en-US" altLang="zh-CN" sz="2400" kern="0" dirty="0"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  <a:sym typeface="+mn-lt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80" y="1123950"/>
                <a:ext cx="10683240" cy="27070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0" y="11430"/>
            <a:ext cx="12191365" cy="99631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Preliminaries – Query Plan Operators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46ED-7A57-4FAD-960C-25C9ACD886ED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55700" y="1158240"/>
            <a:ext cx="10165080" cy="1210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A query plan template  T  is a directed tree where each node is a relational algebra operator.</a:t>
            </a: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342900" indent="-3429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Supported Operators (same as WeTune)</a:t>
            </a: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285750" indent="-28575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Arial" panose="020B0604020202090204" pitchFamily="34" charset="0"/>
              <a:buChar char="•"/>
            </a:pP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285750" indent="-28575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Arial" panose="020B0604020202090204" pitchFamily="34" charset="0"/>
              <a:buChar char="•"/>
            </a:pP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975485" y="2632710"/>
          <a:ext cx="8241030" cy="405257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212975"/>
                <a:gridCol w="6028055"/>
              </a:tblGrid>
              <a:tr h="44069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Operator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Semantics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44069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Input(R)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Input relation R (table or subquery)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44132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Project(a)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Project attributes in list a 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61595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Filter(p,a)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Keep tuples satisfying predicate p  on attributes a 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61658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InnerJoin(</a:t>
                      </a:r>
                      <a:r>
                        <a:rPr lang="en-US" altLang="zh-CN" sz="1800"/>
                        <a:t>R</a:t>
                      </a:r>
                      <a:r>
                        <a:rPr lang="en-US" altLang="zh-CN" sz="1800" baseline="-25000"/>
                        <a:t>l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l</a:t>
                      </a:r>
                      <a:r>
                        <a:rPr lang="en-US" altLang="zh-CN" sz="1800"/>
                        <a:t>,R</a:t>
                      </a:r>
                      <a:r>
                        <a:rPr lang="en-US" altLang="zh-CN" sz="1800" baseline="-25000"/>
                        <a:t>r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r</a:t>
                      </a:r>
                      <a:r>
                        <a:rPr lang="en-US" altLang="zh-CN" sz="1800"/>
                        <a:t> </a:t>
                      </a:r>
                      <a:r>
                        <a:rPr lang="en-US" altLang="zh-CN" sz="1800"/>
                        <a:t>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Inner join on R</a:t>
                      </a:r>
                      <a:r>
                        <a:rPr lang="en-US" altLang="zh-CN" sz="1800" baseline="-25000"/>
                        <a:t>l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l</a:t>
                      </a:r>
                      <a:r>
                        <a:rPr lang="en-US" altLang="zh-CN" sz="1800"/>
                        <a:t>=R</a:t>
                      </a:r>
                      <a:r>
                        <a:rPr lang="en-US" altLang="zh-CN" sz="1800" baseline="-25000"/>
                        <a:t>r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r </a:t>
                      </a:r>
                      <a:endParaRPr lang="en-US" altLang="zh-CN" sz="1800" baseline="-25000"/>
                    </a:p>
                  </a:txBody>
                  <a:tcPr marL="0" marR="0" marT="0" marB="0" anchor="ctr" anchorCtr="0"/>
                </a:tc>
              </a:tr>
              <a:tr h="44069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LeftJoin / RightJoin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Left / Right outer join (symmetric)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61595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InSub(</a:t>
                      </a:r>
                      <a:r>
                        <a:rPr lang="en-US" altLang="zh-CN" sz="1800"/>
                        <a:t>R</a:t>
                      </a:r>
                      <a:r>
                        <a:rPr lang="en-US" altLang="zh-CN" sz="1800" baseline="-25000"/>
                        <a:t>l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l</a:t>
                      </a:r>
                      <a:r>
                        <a:rPr lang="en-US" altLang="zh-CN" sz="1800"/>
                        <a:t>,R</a:t>
                      </a:r>
                      <a:r>
                        <a:rPr lang="en-US" altLang="zh-CN" sz="1800" baseline="-25000"/>
                        <a:t>r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r</a:t>
                      </a:r>
                      <a:r>
                        <a:rPr lang="en-US" altLang="zh-CN" sz="1800"/>
                        <a:t> </a:t>
                      </a:r>
                      <a:r>
                        <a:rPr lang="en-US" altLang="zh-CN" sz="1800"/>
                        <a:t>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Semi-join: keep rows from Rl where value exists in Rr 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44069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Distinct(a)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</a:pPr>
                      <a:r>
                        <a:rPr lang="en-US" altLang="zh-CN" sz="1800"/>
                        <a:t>Project a and remove duplicates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cxnSp>
        <p:nvCxnSpPr>
          <p:cNvPr id="6" name="直线连接符 3"/>
          <p:cNvCxnSpPr/>
          <p:nvPr/>
        </p:nvCxnSpPr>
        <p:spPr>
          <a:xfrm>
            <a:off x="0" y="1011026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0" y="11430"/>
            <a:ext cx="12192635" cy="99568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Constraints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46ED-7A57-4FAD-960C-25C9ACD886ED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31925" y="1172845"/>
            <a:ext cx="9904730" cy="1361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C  is minimal (most relaxed possible): removing any single constraint breaks equivalence</a:t>
            </a: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457200" indent="-4572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Constraint Types (used in C )</a:t>
            </a: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285750" indent="-28575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Arial" panose="020B0604020202090204" pitchFamily="34" charset="0"/>
              <a:buChar char="•"/>
            </a:pP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329180" y="2618740"/>
          <a:ext cx="7533005" cy="3957955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609850"/>
                <a:gridCol w="4923155"/>
              </a:tblGrid>
              <a:tr h="43307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Constraint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Meaning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73723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RelEq(R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,R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 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Relations R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 and R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 contain identical tuples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43307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AttrsEq(a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,a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 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Attribute lists are identical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47053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PredEq(p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,p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Predicates are logically equivalent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48641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SubAttr(a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,a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Every attribute in a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 also appears in a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 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4851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RefAttr(R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,R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 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All values in R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1</a:t>
                      </a:r>
                      <a:r>
                        <a:rPr lang="en-US" altLang="zh-CN" sz="1800"/>
                        <a:t>exist in R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.a</a:t>
                      </a:r>
                      <a:r>
                        <a:rPr lang="en-US" altLang="zh-CN" sz="1800" baseline="-25000"/>
                        <a:t>2</a:t>
                      </a:r>
                      <a:r>
                        <a:rPr lang="en-US" altLang="zh-CN" sz="1800"/>
                        <a:t> 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47942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Unique(R,a)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Values in R on attribute a are unique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43307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NotNull(R,a)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No NULL values in R.a 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cxnSp>
        <p:nvCxnSpPr>
          <p:cNvPr id="3" name="直线连接符 3"/>
          <p:cNvCxnSpPr/>
          <p:nvPr/>
        </p:nvCxnSpPr>
        <p:spPr>
          <a:xfrm>
            <a:off x="0" y="1011026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3040" y="3161665"/>
            <a:ext cx="6824980" cy="2809875"/>
          </a:xfrm>
          <a:prstGeom prst="rect">
            <a:avLst/>
          </a:prstGeom>
        </p:spPr>
      </p:pic>
      <p:cxnSp>
        <p:nvCxnSpPr>
          <p:cNvPr id="21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0" y="0"/>
            <a:ext cx="12191365" cy="101409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Key Idea 1 – Standardized Templates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46ED-7A57-4FAD-960C-25C9ACD886ED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5980" y="1123950"/>
            <a:ext cx="10706735" cy="247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Observation: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Many rules differ only in trivial operator ordering (Project/Filter/Distinct swaps) or redundant operators.</a:t>
            </a: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342900" indent="-3429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Standardized Rule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: Empty constraint set + only two transformations:</a:t>
            </a:r>
            <a:endParaRPr lang="en-US" altLang="zh-CN" sz="24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742950" lvl="1" indent="-28575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Swap two adjacent operators</a:t>
            </a:r>
            <a:endParaRPr lang="en-US" altLang="zh-CN" sz="20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742950" lvl="1" indent="-28575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Remove one operator</a:t>
            </a:r>
            <a:endParaRPr lang="en-US" altLang="zh-CN" sz="20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0725" y="3848735"/>
            <a:ext cx="4552315" cy="2475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Priority order </a:t>
            </a:r>
            <a:r>
              <a:rPr lang="en-US" altLang="zh-CN" sz="24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: </a:t>
            </a:r>
            <a:r>
              <a:rPr lang="en-US" altLang="zh-CN" sz="20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Project &gt; Distinct &gt; Filter</a:t>
            </a:r>
            <a:endParaRPr lang="en-US" altLang="zh-CN" sz="20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pPr marL="342900" lvl="0" indent="-342900" algn="l" defTabSz="431800">
              <a:lnSpc>
                <a:spcPts val="3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Property:</a:t>
            </a:r>
            <a:r>
              <a:rPr lang="en-US" altLang="zh-CN" sz="20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000" kern="0" dirty="0"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  <a:sym typeface="+mn-lt"/>
              </a:rPr>
              <a:t>Any non-standardized rule is provably redundant if a standardized rule exists.</a:t>
            </a:r>
            <a:endParaRPr lang="en-US" altLang="zh-CN" sz="2000" kern="0" dirty="0"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lt"/>
            </a:endParaRPr>
          </a:p>
          <a:p>
            <a:endParaRPr lang="zh-CN" altLang="en-US" sz="2000"/>
          </a:p>
        </p:txBody>
      </p:sp>
      <p:cxnSp>
        <p:nvCxnSpPr>
          <p:cNvPr id="7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-635" y="0"/>
            <a:ext cx="12192000" cy="101409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Key Idea 2 – RTP Deduplicator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46ED-7A57-4FAD-960C-25C9ACD886ED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49935" y="1221105"/>
            <a:ext cx="1096518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31800" fontAlgn="auto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Traditional deduplication: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O(n</a:t>
            </a:r>
            <a:r>
              <a:rPr lang="en-US" altLang="en-US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²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) nested loops </a:t>
            </a:r>
            <a:r>
              <a:rPr lang="en-US" altLang="en-US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→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&gt;20 days for 4-node rules.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 fontAlgn="auto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RTP Algorithm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Per template pair (T</a:t>
            </a:r>
            <a:r>
              <a:rPr lang="en-US" altLang="zh-CN" sz="2000" kern="0" baseline="-2500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src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, T</a:t>
            </a:r>
            <a:r>
              <a:rPr lang="en-US" altLang="zh-CN" sz="2000" kern="0" baseline="-2500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dest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)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Incremental redundancy check during enumeration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Uses optimizer to test whether adding a rule changes optimization result</a:t>
            </a:r>
            <a:endParaRPr lang="en-US" altLang="zh-CN" sz="1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 fontAlgn="auto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Multi-way subsumption + subset partitioning (Compared to R</a:t>
            </a:r>
            <a:r>
              <a:rPr lang="en-US" altLang="zh-CN" sz="2400" kern="0" baseline="-2500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3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, both R</a:t>
            </a:r>
            <a:r>
              <a:rPr lang="en-US" altLang="zh-CN" sz="2400" kern="0" baseline="-2500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1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and R</a:t>
            </a:r>
            <a:r>
              <a:rPr lang="en-US" altLang="zh-CN" sz="2400" kern="0" baseline="-2500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2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are redundant rules.)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 fontAlgn="auto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Guaranteed correctness (proven in paper).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15" y="5521960"/>
            <a:ext cx="11239500" cy="1127125"/>
          </a:xfrm>
          <a:prstGeom prst="rect">
            <a:avLst/>
          </a:prstGeom>
        </p:spPr>
      </p:pic>
      <p:cxnSp>
        <p:nvCxnSpPr>
          <p:cNvPr id="3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220" y="2400300"/>
            <a:ext cx="5859780" cy="3121025"/>
          </a:xfrm>
          <a:prstGeom prst="rect">
            <a:avLst/>
          </a:prstGeom>
        </p:spPr>
      </p:pic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0" y="18415"/>
            <a:ext cx="12192635" cy="99631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Key Idea 3 – Learning-to-Rank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21954" y="1320524"/>
            <a:ext cx="10748091" cy="4984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Problem: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Proof length (Z3 assertions) is unreliable (NP=coNP open problem).</a:t>
            </a:r>
            <a:endParaRPr lang="en-US" altLang="zh-CN" sz="1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Solution: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Train LambdaMART (gradient-boosted trees) on real query workload (&gt;11k SQL queries).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171450" indent="-171450" defTabSz="431800">
              <a:lnSpc>
                <a:spcPct val="150000"/>
              </a:lnSpc>
              <a:buFont typeface="Wingdings" panose="05000000000000000000" charset="0"/>
              <a:buChar char=""/>
            </a:pPr>
            <a:endParaRPr lang="en-US" altLang="zh-CN" sz="12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Features: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Tree distance &amp; structural similarity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Expression complexity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Operator types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Emcoding each node of the tree using one-Hot encoding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21954" y="1250039"/>
            <a:ext cx="10748091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The Figure below illustrates the architecture of rule effectiveness ranking. 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The vectorized tree is passed through three layers of tree convolution. 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After the last layer of tree convolution, the tree structure is flattened into a single vector. 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The source template and target template tree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(T</a:t>
            </a:r>
            <a:r>
              <a:rPr lang="en-US" altLang="zh-CN" sz="2000" kern="0" baseline="-2500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src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,T</a:t>
            </a:r>
            <a:r>
              <a:rPr lang="en-US" altLang="zh-CN" sz="2000" kern="0" baseline="-2500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dest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)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output a fixed vector (V</a:t>
            </a:r>
            <a:r>
              <a:rPr lang="en-US" altLang="zh-CN" sz="2000" kern="0" baseline="-2500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src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,V</a:t>
            </a:r>
            <a:r>
              <a:rPr lang="en-US" altLang="zh-CN" sz="2000" kern="0" baseline="-2500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dest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).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955" y="3582035"/>
            <a:ext cx="11134725" cy="2189480"/>
          </a:xfrm>
          <a:prstGeom prst="rect">
            <a:avLst/>
          </a:prstGeom>
        </p:spPr>
      </p:pic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0" y="18415"/>
            <a:ext cx="12192635" cy="99631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Key Idea 3 – Learning-to-Rank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805" y="2522220"/>
            <a:ext cx="6059170" cy="3751580"/>
          </a:xfrm>
          <a:prstGeom prst="rect">
            <a:avLst/>
          </a:prstGeom>
        </p:spPr>
      </p:pic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-635" y="635"/>
            <a:ext cx="12192000" cy="101282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LambdaMART – Quantitative Features 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21954" y="1073509"/>
            <a:ext cx="1074809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defTabSz="431800">
              <a:lnSpc>
                <a:spcPct val="150000"/>
              </a:lnSpc>
              <a:buNone/>
            </a:pP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We transformed the operators into expression form and extracted nine quantitative features from them to train the LambdaMART sorter: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808990" y="2332355"/>
          <a:ext cx="4784090" cy="441706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369570"/>
                <a:gridCol w="1747520"/>
                <a:gridCol w="2667000"/>
              </a:tblGrid>
              <a:tr h="18986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Feature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Description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L2 Distance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Euclidean distance between V</a:t>
                      </a:r>
                      <a:r>
                        <a:rPr lang="en-US" altLang="zh-CN" sz="1600" baseline="-25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src</a:t>
                      </a: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 and V</a:t>
                      </a:r>
                      <a:r>
                        <a:rPr lang="en-US" altLang="zh-CN" sz="1600" baseline="-25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dest</a:t>
                      </a: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Cosine Similarity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Cosine similarity between the two vectors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  <a:tr h="362585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expr_length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String length of the expression 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  <a:tr h="365125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sum_count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Count of ∑  operators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  <a:tr h="363220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5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times_count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Count of × operators 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  <a:tr h="363855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neg_count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Count of ¬ operators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  <a:tr h="405765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bracket_count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Number of [ ] bracket pairs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  <a:tr h="363220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var_count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Number of variables (t, r, f, a)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  <a:tr h="364490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complexity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Total operator count </a:t>
                      </a:r>
                      <a:endParaRPr lang="en-US" altLang="zh-CN" sz="16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cxnSp>
        <p:nvCxnSpPr>
          <p:cNvPr id="6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-635" y="0"/>
            <a:ext cx="12192000" cy="101473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Dual Role of LambdaMART Ranker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49885" y="1163955"/>
            <a:ext cx="11492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defTabSz="431800">
              <a:lnSpc>
                <a:spcPct val="150000"/>
              </a:lnSpc>
              <a:buNone/>
            </a:pP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The LambdaMART learning-to-rank model serves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two complementary purposes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in SLER: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20725" y="2053590"/>
          <a:ext cx="10749280" cy="430276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146300"/>
                <a:gridCol w="1840865"/>
                <a:gridCol w="2993390"/>
                <a:gridCol w="3768725"/>
              </a:tblGrid>
              <a:tr h="4305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Phase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Role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How it Works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Key Benefit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215138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During Enumeration </a:t>
                      </a:r>
                      <a:endParaRPr lang="en-US" altLang="zh-CN" sz="1800"/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(Pre-filtering)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Template-pair pre-filter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Rank all possible template pairs → select only top-k most promising pairs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Enables scalable rule discovery for complex templates (n ≥ 7 nodes) Reduces enumeration time dramatically while retaining high-value rules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172085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After Enumeration (Final ranking)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Rule effectiveness ranking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Score every generated rule using the 9 quantitative features → sort in descending order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/>
                        <a:t>Optimizes Precision@n Guarantees the top-n rules are the most effective for real-world query performance. Sort all rules.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0" y="0"/>
            <a:ext cx="12192635" cy="101473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Evaluation Setup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21995" y="1151890"/>
            <a:ext cx="11264900" cy="56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Datasets / Query Statistics: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Total workload: 11,518 unique SQL queries 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8,518 queries from WeTune : collected from 15 open-source applications (e.g., Discourse, Redmine)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3,000 commercial queries from YashanDB :intricate relational patterns from real financial systems(kept private due to proprietary restrictions)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indent="0" defTabSz="431800">
              <a:lnSpc>
                <a:spcPct val="150000"/>
              </a:lnSpc>
              <a:buNone/>
            </a:pPr>
            <a:endParaRPr lang="en-US" altLang="zh-CN" sz="9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0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End-to-end performance evaluation:</a:t>
            </a:r>
            <a:endParaRPr lang="en-US" altLang="zh-CN" sz="2000" b="1" kern="0" dirty="0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Deployed on SQL Server 2019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Populated with 10M+ rows (Discourse dataset)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lvl="1" indent="0" defTabSz="431800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0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Baselines</a:t>
            </a:r>
            <a:endParaRPr lang="en-US" altLang="zh-CN" sz="2000" b="1" kern="0" dirty="0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WeTune (SOTA automated rule discovery)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No-rewrite baseline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21995" y="857250"/>
            <a:ext cx="1126490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43180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en-US" altLang="zh-CN" sz="2000" b="1" kern="0" dirty="0">
                <a:solidFill>
                  <a:srgbClr val="0070C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Calibri" charset="0"/>
                <a:ea typeface="黑体" panose="02010609060101010101" pitchFamily="49" charset="-122"/>
                <a:cs typeface="Calibri" charset="0"/>
                <a:sym typeface="+mn-ea"/>
              </a:rPr>
              <a:t>Metrics for Evaluation:</a:t>
            </a:r>
            <a:endParaRPr lang="en-US" altLang="zh-CN" sz="2000" b="1" dirty="0">
              <a:solidFill>
                <a:srgbClr val="0070C0"/>
              </a:solidFill>
              <a:latin typeface="Calibri" charset="0"/>
              <a:ea typeface="黑体" panose="02010609060101010101" pitchFamily="49" charset="-122"/>
              <a:cs typeface="Calibri" charset="0"/>
            </a:endParaRPr>
          </a:p>
          <a:p>
            <a:pPr marL="800100" lvl="1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0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Enumeration Efficiency &amp; Scalability</a:t>
            </a:r>
            <a:endParaRPr lang="en-US" altLang="zh-CN" sz="2400" kern="0" dirty="0">
              <a:solidFill>
                <a:srgbClr val="C00000"/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1257300" lvl="2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Total enumeration time and CPU hours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1257300" lvl="2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Reduction in Z3 verification calls and overall verification complexity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1257300" lvl="2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Scalability to complex templates (n ≥ 7 nodes)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0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Rule Quality</a:t>
            </a:r>
            <a:endParaRPr lang="en-US" altLang="zh-CN" sz="2400" kern="0" dirty="0">
              <a:solidFill>
                <a:srgbClr val="C00000"/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1257300" lvl="2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Number of effective (non-redundant, high-value) rules discovered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1257300" lvl="2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Coverage of real-world complex query patterns unreachable by prior work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0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End-to-End Optimizer Performance</a:t>
            </a:r>
            <a:endParaRPr lang="en-US" altLang="zh-CN" sz="2400" kern="0" dirty="0">
              <a:solidFill>
                <a:srgbClr val="C00000"/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1257300" lvl="2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Query execution runtime on SQL Server 2019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1257300" lvl="2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Plan quality (number of rewrite steps required, plan simplicity)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1257300" lvl="2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Latency reduction percentage compared with WeTune and no-rewrite baseline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0" y="0"/>
            <a:ext cx="12192635" cy="101473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Evaluation Setup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5220" y="4827905"/>
            <a:ext cx="5986780" cy="16713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3849370"/>
            <a:ext cx="5492115" cy="16719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b="4955"/>
          <a:stretch>
            <a:fillRect/>
          </a:stretch>
        </p:blipFill>
        <p:spPr>
          <a:xfrm>
            <a:off x="2018665" y="1083310"/>
            <a:ext cx="8154035" cy="2766060"/>
          </a:xfrm>
          <a:prstGeom prst="rect">
            <a:avLst/>
          </a:prstGeom>
        </p:spPr>
      </p:pic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0" y="0"/>
            <a:ext cx="12192635" cy="101473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Main Results – Efficiency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014470" y="2926080"/>
            <a:ext cx="5882005" cy="8058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014470" y="1782445"/>
            <a:ext cx="5805805" cy="8058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5220" y="4827905"/>
            <a:ext cx="5986780" cy="16713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3849370"/>
            <a:ext cx="5492115" cy="16719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b="4955"/>
          <a:stretch>
            <a:fillRect/>
          </a:stretch>
        </p:blipFill>
        <p:spPr>
          <a:xfrm>
            <a:off x="2018665" y="1083310"/>
            <a:ext cx="8154035" cy="2766060"/>
          </a:xfrm>
          <a:prstGeom prst="rect">
            <a:avLst/>
          </a:prstGeom>
        </p:spPr>
      </p:pic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0" y="0"/>
            <a:ext cx="12192635" cy="101473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Main Results – Efficiency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55980" y="4313555"/>
            <a:ext cx="10883265" cy="22790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indent="0" defTabSz="431800">
              <a:lnSpc>
                <a:spcPct val="150000"/>
              </a:lnSpc>
              <a:buNone/>
            </a:pP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Standardized enumeration + RTP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: up to</a:t>
            </a: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90%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reduction in verification time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indent="0" defTabSz="431800">
              <a:lnSpc>
                <a:spcPct val="150000"/>
              </a:lnSpc>
              <a:buNone/>
            </a:pP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Full 4-node rule discovery: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dramatically</a:t>
            </a: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faster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than WeTune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indent="0" defTabSz="431800">
              <a:lnSpc>
                <a:spcPct val="150000"/>
              </a:lnSpc>
              <a:buNone/>
            </a:pP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7+ node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templates now feasible via ranker pre-filtering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Example: </a:t>
            </a: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10-node templates </a:t>
            </a:r>
            <a:r>
              <a:rPr lang="en-US" altLang="en-US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→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5,127 effective rules discovered in 523 minutes 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014470" y="2926080"/>
            <a:ext cx="5882005" cy="8058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014470" y="1782445"/>
            <a:ext cx="5805805" cy="8058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-635" y="6985"/>
            <a:ext cx="12192635" cy="100647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  <a:sym typeface="+mn-lt"/>
              </a:rPr>
              <a:t>  Rule Quality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111250"/>
            <a:ext cx="8341995" cy="30892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130" y="4297680"/>
            <a:ext cx="8842375" cy="2423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-635" y="6985"/>
            <a:ext cx="12192635" cy="100647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  <a:sym typeface="+mn-lt"/>
              </a:rPr>
              <a:t>  Rule Quality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111250"/>
            <a:ext cx="8341995" cy="30892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130" y="4297680"/>
            <a:ext cx="8842375" cy="24237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10845" y="4570095"/>
            <a:ext cx="11370310" cy="18726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indent="0" defTabSz="431800">
              <a:lnSpc>
                <a:spcPct val="150000"/>
              </a:lnSpc>
              <a:buNone/>
            </a:pP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As the number of rules increases, the ranked rule set </a:t>
            </a:r>
            <a:r>
              <a:rPr lang="en-US" altLang="zh-CN" sz="24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consistently optimizes significantly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more queries than the random or bottom-ranked sets.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indent="0" defTabSz="431800">
              <a:lnSpc>
                <a:spcPct val="150000"/>
              </a:lnSpc>
              <a:buNone/>
            </a:pP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LambdaMART ranking delivers clear gains in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rewrite efficiency and query performance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.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435" y="1564005"/>
            <a:ext cx="7441565" cy="4094480"/>
          </a:xfrm>
          <a:prstGeom prst="rect">
            <a:avLst/>
          </a:prstGeom>
        </p:spPr>
      </p:pic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-635" y="-5080"/>
            <a:ext cx="12192000" cy="101917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Main Results – Effectiveness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41325" y="1339215"/>
            <a:ext cx="4424680" cy="5031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defTabSz="431800">
              <a:lnSpc>
                <a:spcPct val="150000"/>
              </a:lnSpc>
              <a:buNone/>
            </a:pPr>
            <a:r>
              <a:rPr lang="en-US" altLang="zh-CN" sz="20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Query optimization on real workloads:</a:t>
            </a:r>
            <a:endParaRPr lang="en-US" altLang="zh-CN" sz="2000" b="1" kern="0" dirty="0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SLER reaches ideal plans in </a:t>
            </a:r>
            <a:r>
              <a:rPr lang="en-US" altLang="zh-CN" sz="20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single step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vs. WeTune’s </a:t>
            </a:r>
            <a:r>
              <a:rPr lang="en-US" altLang="zh-CN" sz="20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3–4 steps</a:t>
            </a:r>
            <a:endParaRPr lang="en-US" altLang="zh-CN" sz="2000" b="1" kern="0" dirty="0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Latency reduction: </a:t>
            </a:r>
            <a:r>
              <a:rPr lang="en-US" altLang="zh-CN" sz="20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41.8%–73.2%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(vs. WeTune 18.5%–41.8%) in deep-optimization scenarios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indent="0" defTabSz="431800">
              <a:lnSpc>
                <a:spcPct val="150000"/>
              </a:lnSpc>
              <a:buNone/>
            </a:pPr>
            <a:endParaRPr lang="en-US" altLang="zh-CN" sz="1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indent="0" defTabSz="431800">
              <a:lnSpc>
                <a:spcPct val="150000"/>
              </a:lnSpc>
              <a:buNone/>
            </a:pPr>
            <a:r>
              <a:rPr lang="en-US" altLang="zh-CN" sz="20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Three typical win scenarios </a:t>
            </a: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(Q1–Q9 ):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convergence acceleration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breakthrough depth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unique optimizations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-635" y="635"/>
            <a:ext cx="12192635" cy="98425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  Example Rules &amp; Impact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41325" y="1143635"/>
            <a:ext cx="112464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0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SLER discovers rules that:</a:t>
            </a:r>
            <a:endParaRPr lang="en-US" altLang="zh-CN" sz="2400" b="1" kern="0" dirty="0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Eliminate unnecessary joins/subqueries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Push filters/projects optimally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Handle multi-level redundancy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31845"/>
            <a:ext cx="12192000" cy="2867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直接连接符 51"/>
          <p:cNvCxnSpPr/>
          <p:nvPr/>
        </p:nvCxnSpPr>
        <p:spPr>
          <a:xfrm flipH="1">
            <a:off x="855695" y="1014376"/>
            <a:ext cx="59475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955534" y="245891"/>
            <a:ext cx="4424334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rgbClr val="003E9B"/>
                </a:solidFill>
                <a:latin typeface="Calibri" charset="0"/>
                <a:ea typeface="PingFang SC Regular" panose="020B0400000000000000" charset="-122"/>
                <a:cs typeface="Calibri" charset="0"/>
              </a:rPr>
              <a:t>Conclusion</a:t>
            </a:r>
            <a:endParaRPr lang="en-US" altLang="zh-CN" sz="4400" b="1">
              <a:solidFill>
                <a:srgbClr val="003E9B"/>
              </a:solidFill>
              <a:latin typeface="Calibri" charset="0"/>
              <a:ea typeface="PingFang SC Regular" panose="020B0400000000000000" charset="-122"/>
              <a:cs typeface="Calibri" charset="0"/>
            </a:endParaRPr>
          </a:p>
        </p:txBody>
      </p:sp>
      <p:sp>
        <p:nvSpPr>
          <p:cNvPr id="79" name="灯片编号占位符 7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F05AE2-E521-4071-B027-062C254CFD7B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41325" y="1105535"/>
            <a:ext cx="11426825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chemeClr val="accent1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SLER solves the long-standing scalability crisis in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automated rewrite-rule discovery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.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chemeClr val="accent1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First system to produce</a:t>
            </a:r>
            <a:r>
              <a:rPr lang="en-US" altLang="zh-CN" sz="2800" b="1" kern="0" dirty="0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 &gt;1M high-quality rules</a:t>
            </a:r>
            <a:r>
              <a:rPr lang="en-US" altLang="zh-CN" sz="28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covering complex real-world queries.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chemeClr val="accent1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Template standardization + RTP + LambdaMART ranking = </a:t>
            </a:r>
            <a:r>
              <a:rPr lang="en-US" altLang="zh-CN" sz="2400" b="1" kern="0" dirty="0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general, extensible framework.</a:t>
            </a:r>
            <a:endParaRPr lang="en-US" altLang="zh-CN" sz="2400" b="1" kern="0" dirty="0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kern="0" dirty="0">
                <a:solidFill>
                  <a:schemeClr val="accent1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 </a:t>
            </a:r>
            <a:r>
              <a:rPr lang="en-US" altLang="zh-CN" sz="24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Opens the door to next-generation optimizers powered by massive, adaptive rule spaces.</a:t>
            </a:r>
            <a:endParaRPr lang="en-US" altLang="zh-CN" sz="24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342900" indent="-342900" defTabSz="431800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en-US" altLang="zh-CN" sz="2400" b="1" kern="0" dirty="0">
                <a:solidFill>
                  <a:schemeClr val="accent1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lt"/>
              </a:rPr>
              <a:t>Future Work</a:t>
            </a:r>
            <a:endParaRPr lang="en-US" altLang="zh-CN" sz="2400" kern="0" dirty="0">
              <a:solidFill>
                <a:schemeClr val="accent1"/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Support more operators/constraints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Workload-specific rule subset selection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  <a:p>
            <a:pPr marL="800100" lvl="1" indent="-342900" defTabSz="431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kern="0" dirty="0"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+mn-lt"/>
              </a:rPr>
              <a:t>Integration into production DBMS</a:t>
            </a:r>
            <a:endParaRPr lang="en-US" altLang="zh-CN" sz="2000" kern="0" dirty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lt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0" y="1014201"/>
            <a:ext cx="12192000" cy="0"/>
          </a:xfrm>
          <a:prstGeom prst="line">
            <a:avLst/>
          </a:prstGeom>
          <a:ln w="38100">
            <a:solidFill>
              <a:srgbClr val="0463C1"/>
            </a:solidFill>
          </a:ln>
          <a:effectLst>
            <a:glow rad="25400">
              <a:schemeClr val="accent1">
                <a:alpha val="40000"/>
              </a:schemeClr>
            </a:glow>
            <a:outerShdw blurRad="50800" dist="38100" dir="2700000" algn="tl" rotWithShape="0">
              <a:schemeClr val="tx1">
                <a:alpha val="40000"/>
              </a:schemeClr>
            </a:outerShdw>
            <a:reflection blurRad="6350" endPos="0" dir="5400000" sy="-100000" algn="bl" rotWithShape="0"/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200">
              <a:defRPr/>
            </a:pPr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8" name="文本框 31"/>
          <p:cNvSpPr txBox="1"/>
          <p:nvPr/>
        </p:nvSpPr>
        <p:spPr>
          <a:xfrm>
            <a:off x="6953252" y="2711451"/>
            <a:ext cx="6953249" cy="1764455"/>
          </a:xfrm>
          <a:prstGeom prst="rect">
            <a:avLst/>
          </a:prstGeom>
          <a:noFill/>
        </p:spPr>
        <p:txBody>
          <a:bodyPr lIns="121917" tIns="60959" rIns="121917" bIns="60959">
            <a:spAutoFit/>
          </a:bodyPr>
          <a:lstStyle/>
          <a:p>
            <a:pPr defTabSz="1219200">
              <a:defRPr/>
            </a:pPr>
            <a:r>
              <a:rPr lang="en-US" altLang="zh-CN" sz="10665" b="1" kern="0" spc="67">
                <a:solidFill>
                  <a:schemeClr val="bg1">
                    <a:lumMod val="95000"/>
                  </a:schemeClr>
                </a:solidFill>
                <a:cs typeface="Arial" panose="020B0604020202090204" pitchFamily="34" charset="0"/>
                <a:sym typeface="+mn-lt"/>
              </a:rPr>
              <a:t>Thanks</a:t>
            </a:r>
            <a:endParaRPr lang="zh-CN" altLang="en-US" sz="9600" b="1" kern="0" spc="67">
              <a:solidFill>
                <a:schemeClr val="bg1">
                  <a:lumMod val="95000"/>
                </a:schemeClr>
              </a:solidFill>
              <a:cs typeface="Arial" panose="020B0604020202090204" pitchFamily="34" charset="0"/>
              <a:sym typeface="+mn-lt"/>
            </a:endParaRPr>
          </a:p>
        </p:txBody>
      </p:sp>
      <p:sp>
        <p:nvSpPr>
          <p:cNvPr id="12" name="文本框 31"/>
          <p:cNvSpPr txBox="1"/>
          <p:nvPr/>
        </p:nvSpPr>
        <p:spPr>
          <a:xfrm>
            <a:off x="190500" y="857251"/>
            <a:ext cx="6953251" cy="1764455"/>
          </a:xfrm>
          <a:prstGeom prst="rect">
            <a:avLst/>
          </a:prstGeom>
          <a:noFill/>
        </p:spPr>
        <p:txBody>
          <a:bodyPr lIns="121917" tIns="60959" rIns="121917" bIns="60959">
            <a:spAutoFit/>
          </a:bodyPr>
          <a:lstStyle/>
          <a:p>
            <a:pPr defTabSz="1219200">
              <a:defRPr/>
            </a:pPr>
            <a:r>
              <a:rPr lang="en-US" altLang="zh-CN" sz="10665" b="1" kern="0" spc="67">
                <a:solidFill>
                  <a:schemeClr val="bg1">
                    <a:lumMod val="95000"/>
                  </a:schemeClr>
                </a:solidFill>
                <a:cs typeface="Arial" panose="020B0604020202090204" pitchFamily="34" charset="0"/>
                <a:sym typeface="+mn-lt"/>
              </a:rPr>
              <a:t>Thanks</a:t>
            </a:r>
            <a:endParaRPr lang="zh-CN" altLang="en-US" sz="9600" b="1" kern="0" spc="67">
              <a:solidFill>
                <a:schemeClr val="bg1">
                  <a:lumMod val="95000"/>
                </a:schemeClr>
              </a:solidFill>
              <a:cs typeface="Arial" panose="020B0604020202090204" pitchFamily="34" charset="0"/>
              <a:sym typeface="+mn-lt"/>
            </a:endParaRPr>
          </a:p>
        </p:txBody>
      </p:sp>
      <p:sp>
        <p:nvSpPr>
          <p:cNvPr id="3" name="文本框 24"/>
          <p:cNvSpPr txBox="1"/>
          <p:nvPr/>
        </p:nvSpPr>
        <p:spPr>
          <a:xfrm>
            <a:off x="10953751" y="6529918"/>
            <a:ext cx="762000" cy="328229"/>
          </a:xfrm>
          <a:prstGeom prst="rect">
            <a:avLst/>
          </a:prstGeom>
          <a:noFill/>
        </p:spPr>
        <p:txBody>
          <a:bodyPr lIns="121917" tIns="60959" rIns="121917" bIns="60959">
            <a:spAutoFit/>
          </a:bodyPr>
          <a:lstStyle/>
          <a:p>
            <a:pPr algn="r" defTabSz="1219200">
              <a:defRPr/>
            </a:pPr>
            <a:r>
              <a:rPr lang="en-US" altLang="zh-CN" sz="1335" b="1" spc="400">
                <a:solidFill>
                  <a:schemeClr val="bg1"/>
                </a:solidFill>
                <a:cs typeface="+mn-ea"/>
                <a:sym typeface="+mn-lt"/>
              </a:rPr>
              <a:t>SZU</a:t>
            </a:r>
            <a:endParaRPr lang="zh-CN" altLang="en-US" sz="1335" b="1" spc="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004" name="标题 4"/>
          <p:cNvSpPr txBox="1">
            <a:spLocks noChangeArrowheads="1"/>
          </p:cNvSpPr>
          <p:nvPr/>
        </p:nvSpPr>
        <p:spPr bwMode="auto">
          <a:xfrm>
            <a:off x="827811" y="1147307"/>
            <a:ext cx="10845800" cy="2281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b"/>
          <a:lstStyle>
            <a:lvl1pPr defTabSz="6845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6845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6845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6845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6845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Arial" panose="020B0604020202090204" pitchFamily="34" charset="0"/>
              <a:buNone/>
            </a:pPr>
            <a:r>
              <a:rPr lang="en-US" altLang="zh-CN" sz="9600" b="1">
                <a:solidFill>
                  <a:schemeClr val="accent1"/>
                </a:solidFill>
                <a:ea typeface="微软雅黑" panose="020B0503020204020204" pitchFamily="34" charset="-122"/>
              </a:rPr>
              <a:t>Thank You!</a:t>
            </a:r>
            <a:endParaRPr lang="en-US" altLang="zh-CN" sz="9600" b="1">
              <a:solidFill>
                <a:schemeClr val="accent1"/>
              </a:solidFill>
              <a:ea typeface="微软雅黑" panose="020B0503020204020204" pitchFamily="34" charset="-122"/>
            </a:endParaRPr>
          </a:p>
        </p:txBody>
      </p:sp>
      <p:sp>
        <p:nvSpPr>
          <p:cNvPr id="19" name="文本框 31"/>
          <p:cNvSpPr txBox="1"/>
          <p:nvPr/>
        </p:nvSpPr>
        <p:spPr>
          <a:xfrm>
            <a:off x="190500" y="3714751"/>
            <a:ext cx="6953251" cy="1764455"/>
          </a:xfrm>
          <a:prstGeom prst="rect">
            <a:avLst/>
          </a:prstGeom>
          <a:noFill/>
        </p:spPr>
        <p:txBody>
          <a:bodyPr lIns="121917" tIns="60959" rIns="121917" bIns="60959">
            <a:spAutoFit/>
          </a:bodyPr>
          <a:lstStyle/>
          <a:p>
            <a:pPr defTabSz="1219200">
              <a:defRPr/>
            </a:pPr>
            <a:r>
              <a:rPr lang="en-US" altLang="zh-CN" sz="10665" b="1" kern="0" spc="67">
                <a:solidFill>
                  <a:schemeClr val="bg1">
                    <a:lumMod val="95000"/>
                  </a:schemeClr>
                </a:solidFill>
                <a:cs typeface="Arial" panose="020B0604020202090204" pitchFamily="34" charset="0"/>
                <a:sym typeface="+mn-lt"/>
              </a:rPr>
              <a:t>Thanks</a:t>
            </a:r>
            <a:endParaRPr lang="zh-CN" altLang="en-US" sz="9600" b="1" kern="0" spc="67">
              <a:solidFill>
                <a:schemeClr val="bg1">
                  <a:lumMod val="95000"/>
                </a:schemeClr>
              </a:solidFill>
              <a:cs typeface="Arial" panose="020B0604020202090204" pitchFamily="34" charset="0"/>
              <a:sym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46ED-7A57-4FAD-960C-25C9ACD886ED}" type="slidenum">
              <a:rPr lang="zh-CN" altLang="en-US" smtClean="0"/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38200" y="3733226"/>
            <a:ext cx="10515600" cy="1746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4530">
              <a:buClrTx/>
              <a:buSzTx/>
              <a:buNone/>
            </a:pPr>
            <a:r>
              <a:rPr lang="en-US" altLang="zh-CN" sz="9600" b="1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Q &amp; A</a:t>
            </a:r>
            <a:endParaRPr lang="en-US" altLang="zh-CN" sz="9600" b="1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2826"/>
</p:sld>
</file>

<file path=ppt/tags/tag1.xml><?xml version="1.0" encoding="utf-8"?>
<p:tagLst xmlns:p="http://schemas.openxmlformats.org/presentationml/2006/main">
  <p:tag name="TABLE_ENDDRAG_ORIGIN_RECT" val="648*319"/>
  <p:tag name="TABLE_ENDDRAG_RECT" val="155*205*648*319"/>
</p:tagLst>
</file>

<file path=ppt/tags/tag2.xml><?xml version="1.0" encoding="utf-8"?>
<p:tagLst xmlns:p="http://schemas.openxmlformats.org/presentationml/2006/main">
  <p:tag name="TABLE_ENDDRAG_ORIGIN_RECT" val="633*288"/>
  <p:tag name="TABLE_ENDDRAG_RECT" val="67*145*633*288"/>
</p:tagLst>
</file>

<file path=ppt/tags/tag3.xml><?xml version="1.0" encoding="utf-8"?>
<p:tagLst xmlns:p="http://schemas.openxmlformats.org/presentationml/2006/main">
  <p:tag name="TABLE_ENDDRAG_ORIGIN_RECT" val="468*295"/>
  <p:tag name="TABLE_ENDDRAG_RECT" val="63*187*468*295"/>
</p:tagLst>
</file>

<file path=ppt/tags/tag4.xml><?xml version="1.0" encoding="utf-8"?>
<p:tagLst xmlns:p="http://schemas.openxmlformats.org/presentationml/2006/main">
  <p:tag name="TABLE_ENDDRAG_ORIGIN_RECT" val="846*338"/>
  <p:tag name="TABLE_ENDDRAG_RECT" val="56*155*846*338"/>
</p:tagLst>
</file>

<file path=ppt/tags/tag5.xml><?xml version="1.0" encoding="utf-8"?>
<p:tagLst xmlns:p="http://schemas.openxmlformats.org/presentationml/2006/main">
  <p:tag name="ISLIDE.GUIDESSETTING" val="{&quot;Id&quot;:&quot;55f52171-deb4-4d87-9864-47bd9ea656bf&quot;,&quot;Name&quot;:&quot;2&quot;,&quot;Kind&quot;:&quot;Custom&quot;,&quot;OldGuidesSetting&quot;:{&quot;HeaderHeight&quot;:0.0,&quot;FooterHeight&quot;:0.0,&quot;SideMargin&quot;:6.0,&quot;TopMargin&quot;:4.0,&quot;BottomMargin&quot;:8.0,&quot;IntervalMargin&quot;:0.0}}"/>
</p:tagLst>
</file>

<file path=ppt/theme/theme1.xml><?xml version="1.0" encoding="utf-8"?>
<a:theme xmlns:a="http://schemas.openxmlformats.org/drawingml/2006/main" name="主题1">
  <a:themeElements>
    <a:clrScheme name="蓝紫渐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50A1"/>
      </a:accent1>
      <a:accent2>
        <a:srgbClr val="8891C8"/>
      </a:accent2>
      <a:accent3>
        <a:srgbClr val="B8D6E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蓝紫渐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50A1"/>
      </a:accent1>
      <a:accent2>
        <a:srgbClr val="8891C8"/>
      </a:accent2>
      <a:accent3>
        <a:srgbClr val="B8D6E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8988</Words>
  <Application>WPS 演示</Application>
  <PresentationFormat>宽屏</PresentationFormat>
  <Paragraphs>427</Paragraphs>
  <Slides>25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55" baseType="lpstr">
      <vt:lpstr>Arial</vt:lpstr>
      <vt:lpstr>宋体</vt:lpstr>
      <vt:lpstr>Wingdings</vt:lpstr>
      <vt:lpstr>Microsoft YaHei Light</vt:lpstr>
      <vt:lpstr>苹方-简</vt:lpstr>
      <vt:lpstr>Segoe UI Light</vt:lpstr>
      <vt:lpstr>微软雅黑</vt:lpstr>
      <vt:lpstr>汉仪旗黑</vt:lpstr>
      <vt:lpstr>Calibri</vt:lpstr>
      <vt:lpstr>Helvetica Neue</vt:lpstr>
      <vt:lpstr>PingFang SC Regular</vt:lpstr>
      <vt:lpstr>Wingdings</vt:lpstr>
      <vt:lpstr>Times New Roman Regular</vt:lpstr>
      <vt:lpstr>Times New Roman Bold</vt:lpstr>
      <vt:lpstr>Arial Bold</vt:lpstr>
      <vt:lpstr>Times New Roman</vt:lpstr>
      <vt:lpstr>Cambria Math</vt:lpstr>
      <vt:lpstr>黑体</vt:lpstr>
      <vt:lpstr>汉仪中黑KW</vt:lpstr>
      <vt:lpstr>宋体</vt:lpstr>
      <vt:lpstr>Arial Unicode MS</vt:lpstr>
      <vt:lpstr>等线</vt:lpstr>
      <vt:lpstr>汉仪中等线KW</vt:lpstr>
      <vt:lpstr>黑体</vt:lpstr>
      <vt:lpstr>汉仪书宋二KW</vt:lpstr>
      <vt:lpstr>Kingsoft Math</vt:lpstr>
      <vt:lpstr>微软雅黑</vt:lpstr>
      <vt:lpstr>DejaVu Math TeX Gyre</vt:lpstr>
      <vt:lpstr>主题1</vt:lpstr>
      <vt:lpstr>1_主题1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滚筒洗衣机, WeChat:cooljyh</dc:creator>
  <cp:lastModifiedBy>DOUBLE FACE</cp:lastModifiedBy>
  <cp:revision>204</cp:revision>
  <dcterms:created xsi:type="dcterms:W3CDTF">2026-04-24T07:23:11Z</dcterms:created>
  <dcterms:modified xsi:type="dcterms:W3CDTF">2026-04-24T07:23:11Z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30DAAC165C00C48BDF23A769F25B6467_42</vt:lpwstr>
  </property>
  <property fmtid="{D5CDD505-2E9C-101B-9397-08002B2CF9AE}" pid="3" name="KSOProductBuildVer">
    <vt:lpwstr>2052-6.14.0.8924</vt:lpwstr>
  </property>
</Properties>
</file>