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30274895" cy="42767250"/>
  <p:notesSz cx="7315200" cy="9601200"/>
  <p:custDataLst>
    <p:tags r:id="rId8"/>
  </p:custDataLst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61" userDrawn="1">
          <p15:clr>
            <a:srgbClr val="A4A3A4"/>
          </p15:clr>
        </p15:guide>
        <p15:guide id="2" pos="94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6D4"/>
    <a:srgbClr val="D50000"/>
    <a:srgbClr val="F2F2F2"/>
    <a:srgbClr val="FFEBEB"/>
    <a:srgbClr val="EDEDB8"/>
    <a:srgbClr val="CCFFCC"/>
    <a:srgbClr val="0000FF"/>
    <a:srgbClr val="F9F8EA"/>
    <a:srgbClr val="F2F3CF"/>
    <a:srgbClr val="EBF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756" autoAdjust="0"/>
  </p:normalViewPr>
  <p:slideViewPr>
    <p:cSldViewPr snapToGrid="0" showGuides="1">
      <p:cViewPr>
        <p:scale>
          <a:sx n="90" d="100"/>
          <a:sy n="90" d="100"/>
        </p:scale>
        <p:origin x="1312" y="-2656"/>
      </p:cViewPr>
      <p:guideLst>
        <p:guide orient="horz" pos="13461"/>
        <p:guide pos="9458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4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846695" y="4964722"/>
            <a:ext cx="6773172" cy="470322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100">
                <a:latin typeface="Arial" panose="020B0604020202090204"/>
              </a:rPr>
              <a:t>Click to edit the notes format</a:t>
            </a:r>
            <a:endParaRPr lang="en-US" sz="2100">
              <a:latin typeface="Arial" panose="020B06040202020902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674243" cy="52224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500">
                <a:latin typeface="Times New Roman" panose="02020503050405090304"/>
              </a:rPr>
              <a:t>&lt;header&gt;</a:t>
            </a:r>
            <a:endParaRPr lang="en-US" sz="1500">
              <a:latin typeface="Times New Roman" panose="02020503050405090304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792320" y="0"/>
            <a:ext cx="3674243" cy="522248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500">
                <a:latin typeface="Times New Roman" panose="02020503050405090304"/>
              </a:rPr>
              <a:t>&lt;date/time&gt;</a:t>
            </a:r>
            <a:endParaRPr lang="en-US" sz="1500">
              <a:latin typeface="Times New Roman" panose="02020503050405090304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0" y="9929818"/>
            <a:ext cx="3674243" cy="5222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500">
                <a:latin typeface="Times New Roman" panose="02020503050405090304"/>
              </a:rPr>
              <a:t>&lt;footer&gt;</a:t>
            </a:r>
            <a:endParaRPr lang="en-US" sz="1500">
              <a:latin typeface="Times New Roman" panose="02020503050405090304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4792320" y="9929818"/>
            <a:ext cx="3674243" cy="52224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6A68DB85-7145-4323-A476-2A3950D8F233}" type="slidenum">
              <a:rPr lang="en-US" sz="1500">
                <a:latin typeface="Times New Roman" panose="02020503050405090304"/>
              </a:rPr>
            </a:fld>
            <a:endParaRPr lang="en-US" sz="1500">
              <a:latin typeface="Times New Roman" panose="0202050305040509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4143671" y="9119511"/>
            <a:ext cx="3169127" cy="47922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18" tIns="47709" rIns="95418" bIns="47709" anchor="b"/>
          <a:lstStyle/>
          <a:p>
            <a:pPr algn="r">
              <a:lnSpc>
                <a:spcPct val="100000"/>
              </a:lnSpc>
            </a:pPr>
            <a:fld id="{08FDC11E-81E3-48EC-82E0-3C267BF74092}" type="slidenum">
              <a:rPr lang="en-US" sz="1300">
                <a:latin typeface="Times New Roman" panose="02020503050405090304"/>
              </a:rPr>
            </a:fld>
            <a:endParaRPr lang="en-US" sz="1300">
              <a:latin typeface="Times New Roman" panose="020205030504050903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31397" y="4561439"/>
            <a:ext cx="5851572" cy="4319768"/>
          </a:xfrm>
          <a:prstGeom prst="rect">
            <a:avLst/>
          </a:prstGeom>
        </p:spPr>
        <p:txBody>
          <a:bodyPr lIns="0" tIns="0" rIns="0" bIns="0"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73396" y="1"/>
            <a:ext cx="24977051" cy="19007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5982" tIns="197991" rIns="395982" bIns="197991" rtlCol="0" anchor="ctr"/>
          <a:lstStyle/>
          <a:p>
            <a:pPr algn="ctr"/>
            <a:endParaRPr lang="en-US" sz="196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2934" y="19958052"/>
            <a:ext cx="24977051" cy="9503833"/>
          </a:xfrm>
        </p:spPr>
        <p:txBody>
          <a:bodyPr>
            <a:noAutofit/>
          </a:bodyPr>
          <a:lstStyle>
            <a:lvl1pPr>
              <a:defRPr sz="346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2934" y="29461885"/>
            <a:ext cx="22706410" cy="617749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2135">
                <a:solidFill>
                  <a:schemeClr val="tx2"/>
                </a:solidFill>
              </a:defRPr>
            </a:lvl1pPr>
            <a:lvl2pPr marL="1979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959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939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919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899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87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85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83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3396" y="38490529"/>
            <a:ext cx="24977051" cy="1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5982" tIns="197991" rIns="395982" bIns="197991" rtlCol="0" anchor="ctr"/>
          <a:lstStyle/>
          <a:p>
            <a:pPr algn="ctr"/>
            <a:endParaRPr lang="en-US" sz="196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3396" y="1"/>
            <a:ext cx="24977051" cy="19007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5982" tIns="197991" rIns="395982" bIns="197991" rtlCol="0" anchor="ctr"/>
          <a:lstStyle/>
          <a:p>
            <a:pPr algn="ctr"/>
            <a:endParaRPr lang="en-US" sz="196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934" y="20433244"/>
            <a:ext cx="24977051" cy="10454216"/>
          </a:xfrm>
        </p:spPr>
        <p:txBody>
          <a:bodyPr anchor="b" anchorCtr="0"/>
          <a:lstStyle>
            <a:lvl1pPr algn="l">
              <a:defRPr sz="2342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2934" y="30887459"/>
            <a:ext cx="22706410" cy="57023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135">
                <a:solidFill>
                  <a:schemeClr val="tx2"/>
                </a:solidFill>
              </a:defRPr>
            </a:lvl1pPr>
            <a:lvl2pPr marL="1979930" indent="0">
              <a:buNone/>
              <a:defRPr sz="7775">
                <a:solidFill>
                  <a:schemeClr val="tx1">
                    <a:tint val="75000"/>
                  </a:schemeClr>
                </a:solidFill>
              </a:defRPr>
            </a:lvl2pPr>
            <a:lvl3pPr marL="3959860" indent="0">
              <a:buNone/>
              <a:defRPr sz="6920">
                <a:solidFill>
                  <a:schemeClr val="tx1">
                    <a:tint val="75000"/>
                  </a:schemeClr>
                </a:solidFill>
              </a:defRPr>
            </a:lvl3pPr>
            <a:lvl4pPr marL="593979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4pPr>
            <a:lvl5pPr marL="791972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5pPr>
            <a:lvl6pPr marL="989965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6pPr>
            <a:lvl7pPr marL="1187958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7pPr>
            <a:lvl8pPr marL="1385951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8pPr>
            <a:lvl9pPr marL="15839440" indent="0">
              <a:buNone/>
              <a:defRPr sz="60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3396" y="38490529"/>
            <a:ext cx="24977051" cy="1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5982" tIns="197991" rIns="395982" bIns="197991" rtlCol="0" anchor="ctr"/>
          <a:lstStyle/>
          <a:p>
            <a:pPr algn="ctr"/>
            <a:endParaRPr lang="en-US" sz="196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2936" y="3801543"/>
            <a:ext cx="12110085" cy="23493476"/>
          </a:xfrm>
        </p:spPr>
        <p:txBody>
          <a:bodyPr/>
          <a:lstStyle>
            <a:lvl1pPr>
              <a:defRPr sz="12135"/>
            </a:lvl1pPr>
            <a:lvl2pPr>
              <a:defRPr sz="10430"/>
            </a:lvl2pPr>
            <a:lvl3pPr>
              <a:defRPr sz="8630"/>
            </a:lvl3pPr>
            <a:lvl4pPr>
              <a:defRPr sz="7775"/>
            </a:lvl4pPr>
            <a:lvl5pPr>
              <a:defRPr sz="7775"/>
            </a:lvl5pPr>
            <a:lvl6pPr>
              <a:defRPr sz="7775"/>
            </a:lvl6pPr>
            <a:lvl7pPr>
              <a:defRPr sz="7775"/>
            </a:lvl7pPr>
            <a:lvl8pPr>
              <a:defRPr sz="7775"/>
            </a:lvl8pPr>
            <a:lvl9pPr>
              <a:defRPr sz="77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89901" y="3801543"/>
            <a:ext cx="12110085" cy="23493476"/>
          </a:xfrm>
        </p:spPr>
        <p:txBody>
          <a:bodyPr/>
          <a:lstStyle>
            <a:lvl1pPr>
              <a:defRPr sz="12135"/>
            </a:lvl1pPr>
            <a:lvl2pPr>
              <a:defRPr sz="10430"/>
            </a:lvl2pPr>
            <a:lvl3pPr>
              <a:defRPr sz="8630"/>
            </a:lvl3pPr>
            <a:lvl4pPr>
              <a:defRPr sz="7775"/>
            </a:lvl4pPr>
            <a:lvl5pPr>
              <a:defRPr sz="7775"/>
            </a:lvl5pPr>
            <a:lvl6pPr>
              <a:defRPr sz="7775"/>
            </a:lvl6pPr>
            <a:lvl7pPr>
              <a:defRPr sz="7775"/>
            </a:lvl7pPr>
            <a:lvl8pPr>
              <a:defRPr sz="7775"/>
            </a:lvl8pPr>
            <a:lvl9pPr>
              <a:defRPr sz="77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2844" y="3801537"/>
            <a:ext cx="12110085" cy="3989627"/>
          </a:xfrm>
        </p:spPr>
        <p:txBody>
          <a:bodyPr anchor="b">
            <a:noAutofit/>
          </a:bodyPr>
          <a:lstStyle>
            <a:lvl1pPr marL="0" indent="0">
              <a:buNone/>
              <a:defRPr sz="12135" b="0">
                <a:latin typeface="+mj-lt"/>
              </a:defRPr>
            </a:lvl1pPr>
            <a:lvl2pPr marL="1979930" indent="0">
              <a:buNone/>
              <a:defRPr sz="8630" b="1"/>
            </a:lvl2pPr>
            <a:lvl3pPr marL="3959860" indent="0">
              <a:buNone/>
              <a:defRPr sz="7775" b="1"/>
            </a:lvl3pPr>
            <a:lvl4pPr marL="5939790" indent="0">
              <a:buNone/>
              <a:defRPr sz="6920" b="1"/>
            </a:lvl4pPr>
            <a:lvl5pPr marL="7919720" indent="0">
              <a:buNone/>
              <a:defRPr sz="6920" b="1"/>
            </a:lvl5pPr>
            <a:lvl6pPr marL="9899650" indent="0">
              <a:buNone/>
              <a:defRPr sz="6920" b="1"/>
            </a:lvl6pPr>
            <a:lvl7pPr marL="11879580" indent="0">
              <a:buNone/>
              <a:defRPr sz="6920" b="1"/>
            </a:lvl7pPr>
            <a:lvl8pPr marL="13859510" indent="0">
              <a:buNone/>
              <a:defRPr sz="6920" b="1"/>
            </a:lvl8pPr>
            <a:lvl9pPr marL="15839440" indent="0">
              <a:buNone/>
              <a:defRPr sz="692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2844" y="8289438"/>
            <a:ext cx="12110085" cy="19007667"/>
          </a:xfrm>
        </p:spPr>
        <p:txBody>
          <a:bodyPr anchor="t" anchorCtr="0"/>
          <a:lstStyle>
            <a:lvl1pPr>
              <a:defRPr sz="10430"/>
            </a:lvl1pPr>
            <a:lvl2pPr>
              <a:defRPr sz="8630"/>
            </a:lvl2pPr>
            <a:lvl3pPr>
              <a:defRPr sz="7775"/>
            </a:lvl3pPr>
            <a:lvl4pPr>
              <a:defRPr sz="6920"/>
            </a:lvl4pPr>
            <a:lvl5pPr>
              <a:defRPr sz="6920"/>
            </a:lvl5pPr>
            <a:lvl6pPr>
              <a:defRPr sz="6920"/>
            </a:lvl6pPr>
            <a:lvl7pPr>
              <a:defRPr sz="6920"/>
            </a:lvl7pPr>
            <a:lvl8pPr>
              <a:defRPr sz="6920"/>
            </a:lvl8pPr>
            <a:lvl9pPr>
              <a:defRPr sz="6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808" y="3801537"/>
            <a:ext cx="12110085" cy="3989627"/>
          </a:xfrm>
        </p:spPr>
        <p:txBody>
          <a:bodyPr anchor="b">
            <a:noAutofit/>
          </a:bodyPr>
          <a:lstStyle>
            <a:lvl1pPr marL="0" indent="0">
              <a:buNone/>
              <a:defRPr sz="12135" b="0">
                <a:latin typeface="+mj-lt"/>
              </a:defRPr>
            </a:lvl1pPr>
            <a:lvl2pPr marL="1979930" indent="0">
              <a:buNone/>
              <a:defRPr sz="8630" b="1"/>
            </a:lvl2pPr>
            <a:lvl3pPr marL="3959860" indent="0">
              <a:buNone/>
              <a:defRPr sz="7775" b="1"/>
            </a:lvl3pPr>
            <a:lvl4pPr marL="5939790" indent="0">
              <a:buNone/>
              <a:defRPr sz="6920" b="1"/>
            </a:lvl4pPr>
            <a:lvl5pPr marL="7919720" indent="0">
              <a:buNone/>
              <a:defRPr sz="6920" b="1"/>
            </a:lvl5pPr>
            <a:lvl6pPr marL="9899650" indent="0">
              <a:buNone/>
              <a:defRPr sz="6920" b="1"/>
            </a:lvl6pPr>
            <a:lvl7pPr marL="11879580" indent="0">
              <a:buNone/>
              <a:defRPr sz="6920" b="1"/>
            </a:lvl7pPr>
            <a:lvl8pPr marL="13859510" indent="0">
              <a:buNone/>
              <a:defRPr sz="6920" b="1"/>
            </a:lvl8pPr>
            <a:lvl9pPr marL="15839440" indent="0">
              <a:buNone/>
              <a:defRPr sz="692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808" y="8289438"/>
            <a:ext cx="12110085" cy="19007667"/>
          </a:xfrm>
        </p:spPr>
        <p:txBody>
          <a:bodyPr anchor="t" anchorCtr="0"/>
          <a:lstStyle>
            <a:lvl1pPr>
              <a:defRPr sz="10430"/>
            </a:lvl1pPr>
            <a:lvl2pPr>
              <a:defRPr sz="8630"/>
            </a:lvl2pPr>
            <a:lvl3pPr>
              <a:defRPr sz="7775"/>
            </a:lvl3pPr>
            <a:lvl4pPr>
              <a:defRPr sz="6920"/>
            </a:lvl4pPr>
            <a:lvl5pPr>
              <a:defRPr sz="6920"/>
            </a:lvl5pPr>
            <a:lvl6pPr>
              <a:defRPr sz="6920"/>
            </a:lvl6pPr>
            <a:lvl7pPr>
              <a:defRPr sz="6920"/>
            </a:lvl7pPr>
            <a:lvl8pPr>
              <a:defRPr sz="6920"/>
            </a:lvl8pPr>
            <a:lvl9pPr>
              <a:defRPr sz="6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2512844" y="7791162"/>
            <a:ext cx="12110085" cy="9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5379808" y="7791162"/>
            <a:ext cx="12110085" cy="9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934" y="28511503"/>
            <a:ext cx="22464208" cy="9979026"/>
          </a:xfrm>
        </p:spPr>
        <p:txBody>
          <a:bodyPr anchor="b">
            <a:normAutofit/>
          </a:bodyPr>
          <a:lstStyle>
            <a:lvl1pPr algn="l">
              <a:defRPr sz="2342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6445" y="2851153"/>
            <a:ext cx="15213541" cy="25660345"/>
          </a:xfrm>
        </p:spPr>
        <p:txBody>
          <a:bodyPr/>
          <a:lstStyle>
            <a:lvl1pPr>
              <a:defRPr sz="10430"/>
            </a:lvl1pPr>
            <a:lvl2pPr>
              <a:defRPr sz="9485"/>
            </a:lvl2pPr>
            <a:lvl3pPr>
              <a:defRPr sz="8630"/>
            </a:lvl3pPr>
            <a:lvl4pPr>
              <a:defRPr sz="7775"/>
            </a:lvl4pPr>
            <a:lvl5pPr>
              <a:defRPr sz="7775"/>
            </a:lvl5pPr>
            <a:lvl6pPr>
              <a:defRPr sz="8630"/>
            </a:lvl6pPr>
            <a:lvl7pPr>
              <a:defRPr sz="8630"/>
            </a:lvl7pPr>
            <a:lvl8pPr>
              <a:defRPr sz="8630"/>
            </a:lvl8pPr>
            <a:lvl9pPr>
              <a:defRPr sz="863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22942" y="2851154"/>
            <a:ext cx="8852311" cy="25660350"/>
          </a:xfrm>
        </p:spPr>
        <p:txBody>
          <a:bodyPr>
            <a:normAutofit/>
          </a:bodyPr>
          <a:lstStyle>
            <a:lvl1pPr marL="0" indent="0">
              <a:buNone/>
              <a:defRPr sz="9100">
                <a:solidFill>
                  <a:schemeClr val="tx2"/>
                </a:solidFill>
              </a:defRPr>
            </a:lvl1pPr>
            <a:lvl2pPr marL="1979930" indent="0">
              <a:buNone/>
              <a:defRPr sz="5215"/>
            </a:lvl2pPr>
            <a:lvl3pPr marL="3959860" indent="0">
              <a:buNone/>
              <a:defRPr sz="4365"/>
            </a:lvl3pPr>
            <a:lvl4pPr marL="5939790" indent="0">
              <a:buNone/>
              <a:defRPr sz="3890"/>
            </a:lvl4pPr>
            <a:lvl5pPr marL="7919720" indent="0">
              <a:buNone/>
              <a:defRPr sz="3890"/>
            </a:lvl5pPr>
            <a:lvl6pPr marL="9899650" indent="0">
              <a:buNone/>
              <a:defRPr sz="3890"/>
            </a:lvl6pPr>
            <a:lvl7pPr marL="11879580" indent="0">
              <a:buNone/>
              <a:defRPr sz="3890"/>
            </a:lvl7pPr>
            <a:lvl8pPr marL="13859510" indent="0">
              <a:buNone/>
              <a:defRPr sz="3890"/>
            </a:lvl8pPr>
            <a:lvl9pPr marL="15839440" indent="0">
              <a:buNone/>
              <a:defRPr sz="38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-19371" y="15683649"/>
            <a:ext cx="23759583" cy="525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44" y="28511503"/>
            <a:ext cx="22464208" cy="9979026"/>
          </a:xfrm>
        </p:spPr>
        <p:txBody>
          <a:bodyPr anchor="b">
            <a:normAutofit/>
          </a:bodyPr>
          <a:lstStyle>
            <a:lvl1pPr algn="l">
              <a:defRPr sz="234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73396" y="2851150"/>
            <a:ext cx="24977051" cy="18057284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13845"/>
            </a:lvl1pPr>
            <a:lvl2pPr marL="1979930" indent="0">
              <a:buNone/>
              <a:defRPr sz="12135"/>
            </a:lvl2pPr>
            <a:lvl3pPr marL="3959860" indent="0">
              <a:buNone/>
              <a:defRPr sz="10430"/>
            </a:lvl3pPr>
            <a:lvl4pPr marL="5939790" indent="0">
              <a:buNone/>
              <a:defRPr sz="8630"/>
            </a:lvl4pPr>
            <a:lvl5pPr marL="7919720" indent="0">
              <a:buNone/>
              <a:defRPr sz="8630"/>
            </a:lvl5pPr>
            <a:lvl6pPr marL="9899650" indent="0">
              <a:buNone/>
              <a:defRPr sz="8630"/>
            </a:lvl6pPr>
            <a:lvl7pPr marL="11879580" indent="0">
              <a:buNone/>
              <a:defRPr sz="8630"/>
            </a:lvl7pPr>
            <a:lvl8pPr marL="13859510" indent="0">
              <a:buNone/>
              <a:defRPr sz="8630"/>
            </a:lvl8pPr>
            <a:lvl9pPr marL="15839440" indent="0">
              <a:buNone/>
              <a:defRPr sz="863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15598" y="21858818"/>
            <a:ext cx="24472464" cy="501920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7775"/>
            </a:lvl1pPr>
            <a:lvl2pPr marL="1979930" indent="0">
              <a:buNone/>
              <a:defRPr sz="5215"/>
            </a:lvl2pPr>
            <a:lvl3pPr marL="3959860" indent="0">
              <a:buNone/>
              <a:defRPr sz="4365"/>
            </a:lvl3pPr>
            <a:lvl4pPr marL="5939790" indent="0">
              <a:buNone/>
              <a:defRPr sz="3890"/>
            </a:lvl4pPr>
            <a:lvl5pPr marL="7919720" indent="0">
              <a:buNone/>
              <a:defRPr sz="3890"/>
            </a:lvl5pPr>
            <a:lvl6pPr marL="9899650" indent="0">
              <a:buNone/>
              <a:defRPr sz="3890"/>
            </a:lvl6pPr>
            <a:lvl7pPr marL="11879580" indent="0">
              <a:buNone/>
              <a:defRPr sz="3890"/>
            </a:lvl7pPr>
            <a:lvl8pPr marL="13859510" indent="0">
              <a:buNone/>
              <a:defRPr sz="3890"/>
            </a:lvl8pPr>
            <a:lvl9pPr marL="15839440" indent="0">
              <a:buNone/>
              <a:defRPr sz="38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27521" y="4276728"/>
            <a:ext cx="23967877" cy="24234776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22934" y="4276738"/>
            <a:ext cx="6055043" cy="337386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7977" y="4276732"/>
            <a:ext cx="18922008" cy="30412267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2936" y="28511503"/>
            <a:ext cx="22454116" cy="9979026"/>
          </a:xfrm>
          <a:prstGeom prst="rect">
            <a:avLst/>
          </a:prstGeom>
        </p:spPr>
        <p:txBody>
          <a:bodyPr vert="horz" lIns="417588" tIns="208794" rIns="417588" bIns="208794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2934" y="4276728"/>
            <a:ext cx="24977051" cy="24234776"/>
          </a:xfrm>
          <a:prstGeom prst="rect">
            <a:avLst/>
          </a:prstGeom>
        </p:spPr>
        <p:txBody>
          <a:bodyPr vert="horz" lIns="417588" tIns="208794" rIns="417588" bIns="208794" rtlCol="0" anchor="ctr" anchorCtr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688062" y="38718624"/>
            <a:ext cx="7064216" cy="2276959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r">
              <a:defRPr sz="5215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62B1B13E-D5AF-485E-81A1-82A140076526}" type="datetime4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2934" y="38718624"/>
            <a:ext cx="16137075" cy="2276959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l">
              <a:defRPr sz="5215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229344" y="35468313"/>
            <a:ext cx="2522934" cy="2276959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r">
              <a:defRPr sz="1043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2754ED01-E2A0-4C1E-8E21-014B9904157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959860" rtl="0" eaLnBrk="1" latinLnBrk="0" hangingPunct="1">
        <a:spcBef>
          <a:spcPct val="0"/>
        </a:spcBef>
        <a:buNone/>
        <a:defRPr sz="234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188085" indent="-118808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0430" kern="1200">
          <a:solidFill>
            <a:schemeClr val="tx2"/>
          </a:solidFill>
          <a:latin typeface="+mn-lt"/>
          <a:ea typeface="+mn-ea"/>
          <a:cs typeface="+mn-cs"/>
        </a:defRPr>
      </a:lvl1pPr>
      <a:lvl2pPr marL="2573655" indent="-118808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9485" kern="1200">
          <a:solidFill>
            <a:schemeClr val="tx2"/>
          </a:solidFill>
          <a:latin typeface="+mn-lt"/>
          <a:ea typeface="+mn-ea"/>
          <a:cs typeface="+mn-cs"/>
        </a:defRPr>
      </a:lvl2pPr>
      <a:lvl3pPr marL="3761740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8630" kern="1200">
          <a:solidFill>
            <a:schemeClr val="tx2"/>
          </a:solidFill>
          <a:latin typeface="+mn-lt"/>
          <a:ea typeface="+mn-ea"/>
          <a:cs typeface="+mn-cs"/>
        </a:defRPr>
      </a:lvl3pPr>
      <a:lvl4pPr marL="4949825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7775" kern="1200">
          <a:solidFill>
            <a:schemeClr val="tx2"/>
          </a:solidFill>
          <a:latin typeface="+mn-lt"/>
          <a:ea typeface="+mn-ea"/>
          <a:cs typeface="+mn-cs"/>
        </a:defRPr>
      </a:lvl4pPr>
      <a:lvl5pPr marL="5939790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7775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7127875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6920" kern="1200">
          <a:solidFill>
            <a:schemeClr val="tx2"/>
          </a:solidFill>
          <a:latin typeface="+mn-lt"/>
          <a:ea typeface="+mn-ea"/>
          <a:cs typeface="+mn-cs"/>
        </a:defRPr>
      </a:lvl6pPr>
      <a:lvl7pPr marL="8236585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6920" kern="1200">
          <a:solidFill>
            <a:schemeClr val="tx2"/>
          </a:solidFill>
          <a:latin typeface="+mn-lt"/>
          <a:ea typeface="+mn-ea"/>
          <a:cs typeface="+mn-cs"/>
        </a:defRPr>
      </a:lvl7pPr>
      <a:lvl8pPr marL="9503410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6920" kern="1200">
          <a:solidFill>
            <a:schemeClr val="tx2"/>
          </a:solidFill>
          <a:latin typeface="+mn-lt"/>
          <a:ea typeface="+mn-ea"/>
          <a:cs typeface="+mn-cs"/>
        </a:defRPr>
      </a:lvl8pPr>
      <a:lvl9pPr marL="10691495" indent="-989965" algn="l" defTabSz="395986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692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1pPr>
      <a:lvl2pPr marL="197993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2pPr>
      <a:lvl3pPr marL="395986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3pPr>
      <a:lvl4pPr marL="593979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4pPr>
      <a:lvl5pPr marL="791972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5pPr>
      <a:lvl6pPr marL="989965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6pPr>
      <a:lvl7pPr marL="1187958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7pPr>
      <a:lvl8pPr marL="1385951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8pPr>
      <a:lvl9pPr marL="15839440" algn="l" defTabSz="3959860" rtl="0" eaLnBrk="1" latinLnBrk="0" hangingPunct="1">
        <a:defRPr sz="7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8.png"/><Relationship Id="rId2" Type="http://schemas.openxmlformats.org/officeDocument/2006/relationships/image" Target="../media/image3.png"/><Relationship Id="rId19" Type="http://schemas.openxmlformats.org/officeDocument/2006/relationships/image" Target="../media/image17.png"/><Relationship Id="rId18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tags" Target="../tags/tag3.xml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2"/>
          <p:cNvSpPr/>
          <p:nvPr/>
        </p:nvSpPr>
        <p:spPr>
          <a:xfrm>
            <a:off x="15383510" y="6132195"/>
            <a:ext cx="13940790" cy="35556190"/>
          </a:xfrm>
          <a:prstGeom prst="roundRect">
            <a:avLst>
              <a:gd name="adj" fmla="val 4403"/>
            </a:avLst>
          </a:prstGeom>
          <a:solidFill>
            <a:schemeClr val="bg1"/>
          </a:solidFill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1500" dirty="0"/>
          </a:p>
        </p:txBody>
      </p:sp>
      <p:sp>
        <p:nvSpPr>
          <p:cNvPr id="27" name="TextBox 415"/>
          <p:cNvSpPr txBox="1"/>
          <p:nvPr/>
        </p:nvSpPr>
        <p:spPr>
          <a:xfrm>
            <a:off x="15540355" y="6511925"/>
            <a:ext cx="13627735" cy="11761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zh-CN" alt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 </a:t>
            </a:r>
            <a:r>
              <a:rPr 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E. </a:t>
            </a:r>
            <a:r>
              <a:rPr lang="en-US" altLang="zh-CN" sz="5550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Standardized Enumeration &amp; RTP </a:t>
            </a:r>
            <a:endParaRPr lang="en-US" altLang="zh-CN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+mj-lt"/>
              <a:buNone/>
            </a:pPr>
            <a:endParaRPr lang="en-US" altLang="zh-CN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endParaRPr lang="en-US" altLang="zh-CN" sz="3200" dirty="0">
              <a:solidFill>
                <a:schemeClr val="tx1"/>
              </a:solidFill>
              <a:latin typeface="Arial" panose="020B0604020202090204" pitchFamily="34" charset="0"/>
              <a:ea typeface="Microsoft YaHei UI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878205" y="6133465"/>
            <a:ext cx="13933805" cy="35554920"/>
          </a:xfrm>
          <a:prstGeom prst="roundRect">
            <a:avLst>
              <a:gd name="adj" fmla="val 4403"/>
            </a:avLst>
          </a:prstGeom>
          <a:solidFill>
            <a:schemeClr val="bg1"/>
          </a:solidFill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 sz="1500" dirty="0"/>
          </a:p>
        </p:txBody>
      </p:sp>
      <p:sp>
        <p:nvSpPr>
          <p:cNvPr id="70" name="TextBox 69"/>
          <p:cNvSpPr txBox="1"/>
          <p:nvPr/>
        </p:nvSpPr>
        <p:spPr>
          <a:xfrm>
            <a:off x="1228090" y="35058350"/>
            <a:ext cx="13232130" cy="6191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914400" indent="-914400">
              <a:buFont typeface="+mj-lt"/>
              <a:buAutoNum type="alphaUcPeriod" startAt="4"/>
            </a:pPr>
            <a:r>
              <a:rPr 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Contribution</a:t>
            </a:r>
            <a:endParaRPr lang="en-US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Large-Scale Rule Base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971550" lvl="3" indent="-571500">
              <a:buFont typeface="Wingdings" panose="05000000000000000000" charset="0"/>
              <a:buChar char="q"/>
            </a:pP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Building the</a:t>
            </a:r>
            <a:r>
              <a:rPr lang="en-US" altLang="zh-CN" sz="2800" dirty="0">
                <a:solidFill>
                  <a:srgbClr val="1266D4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largest rewritten rule base</a:t>
            </a: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to date, containing </a:t>
            </a:r>
            <a:r>
              <a:rPr lang="en-US" altLang="zh-CN" sz="2800" dirty="0">
                <a:solidFill>
                  <a:srgbClr val="1266D4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over 1 million non-redundant and empirically validated rules</a:t>
            </a: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.</a:t>
            </a:r>
            <a:endParaRPr lang="en-US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Standardized Enumeration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Eliminates structural isomers and identity operators via a canonical framework.</a:t>
            </a:r>
            <a:endParaRPr lang="en-US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LTR-Guided Discovery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1200150" lvl="1" indent="-742950">
              <a:buFont typeface="Wingdings" panose="05000000000000000000" charset="0"/>
              <a:buChar char="q"/>
            </a:pP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Utilizing LambdaMART to prioritize high-value template pairs.</a:t>
            </a:r>
            <a:endParaRPr lang="en-US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High-Performance Discovery and Practical Functionality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Achieving up to </a:t>
            </a:r>
            <a:r>
              <a:rPr lang="en-US" altLang="zh-CN" sz="2800" dirty="0">
                <a:solidFill>
                  <a:srgbClr val="1266D4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87% faster</a:t>
            </a: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 runtime compared to state-of-the-art tools and identifying new, complex rule categories.</a:t>
            </a:r>
            <a:endParaRPr lang="en-US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7440" y="6511925"/>
            <a:ext cx="13779500" cy="9043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914400" indent="-914400">
              <a:buFont typeface="+mj-lt"/>
              <a:buAutoNum type="alphaUcPeriod"/>
            </a:pPr>
            <a:r>
              <a:rPr lang="en-US" altLang="zh-CN" sz="5550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What is </a:t>
            </a:r>
            <a:r>
              <a:rPr lang="en-US" altLang="zh-CN" sz="5550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Query Rewrite Rule?</a:t>
            </a:r>
            <a:endParaRPr lang="en-US" altLang="zh-CN" sz="5550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sz="3600" b="1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</a:rPr>
              <a:t>Background: </a:t>
            </a:r>
            <a:r>
              <a:rPr lang="en-US" sz="32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</a:rPr>
              <a:t>Query rewriting is a cornerstone of query optimization. While manual rule creation is slow, automated discovery tools (e.g., WeTune) have emerged.</a:t>
            </a: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endParaRPr lang="en-US" sz="28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</p:txBody>
      </p:sp>
      <p:sp>
        <p:nvSpPr>
          <p:cNvPr id="264" name="TextBox 415"/>
          <p:cNvSpPr txBox="1"/>
          <p:nvPr/>
        </p:nvSpPr>
        <p:spPr>
          <a:xfrm>
            <a:off x="15622905" y="18274030"/>
            <a:ext cx="13627735" cy="10172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zh-CN" alt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 </a:t>
            </a:r>
            <a:r>
              <a:rPr lang="en-US" altLang="zh-CN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F</a:t>
            </a:r>
            <a:r>
              <a:rPr 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. </a:t>
            </a:r>
            <a:r>
              <a:rPr lang="en-US" altLang="zh-CN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Learning-to-Rank (LTR)</a:t>
            </a:r>
            <a:endParaRPr lang="en-US" sz="4400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p"/>
            </a:pPr>
            <a:endParaRPr lang="en-US" altLang="zh-CN" sz="32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p"/>
            </a:pPr>
            <a:endParaRPr lang="en-US" altLang="zh-CN" sz="32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p"/>
            </a:pPr>
            <a:endParaRPr lang="en-US" altLang="zh-CN" sz="32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p"/>
            </a:pPr>
            <a:endParaRPr lang="en-US" altLang="zh-CN" sz="32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p"/>
            </a:pPr>
            <a:endParaRPr lang="en-US" altLang="zh-CN" sz="32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 indent="0">
              <a:buFont typeface="Wingdings" panose="05000000000000000000" charset="0"/>
              <a:buNone/>
            </a:pPr>
            <a:endParaRPr lang="en-US" altLang="zh-CN" sz="3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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Approach:</a:t>
            </a:r>
            <a:r>
              <a:rPr lang="en-US" altLang="zh-CN" sz="3200" b="1" dirty="0">
                <a:latin typeface="Arial Bold" panose="020B0604020202090204" charset="0"/>
                <a:cs typeface="Arial Bold" panose="020B0604020202090204" charset="0"/>
              </a:rPr>
              <a:t> 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Treats rule discovery as a ranking problem to prioritize "promising" template pairs.</a:t>
            </a:r>
            <a:endParaRPr lang="en-US" altLang="zh-CN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</p:txBody>
      </p:sp>
      <p:sp>
        <p:nvSpPr>
          <p:cNvPr id="8" name="CustomShape 4"/>
          <p:cNvSpPr/>
          <p:nvPr/>
        </p:nvSpPr>
        <p:spPr>
          <a:xfrm>
            <a:off x="930416" y="2139187"/>
            <a:ext cx="28414379" cy="3646397"/>
          </a:xfrm>
          <a:prstGeom prst="roundRect">
            <a:avLst>
              <a:gd name="adj" fmla="val 10800"/>
            </a:avLst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5344" tIns="42671" rIns="85344" bIns="42671" anchor="ctr"/>
          <a:lstStyle/>
          <a:p>
            <a:pPr algn="ctr"/>
            <a:r>
              <a:rPr lang="en-US" altLang="zh-CN" sz="6000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Efficient Query Rewrite Rule Discovery </a:t>
            </a:r>
            <a:endParaRPr lang="en-US" altLang="zh-CN" sz="6000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algn="ctr"/>
            <a:r>
              <a:rPr lang="en-US" altLang="zh-CN" sz="6000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via Standardized Enumeration and Learning-to-Rank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             </a:t>
            </a:r>
            <a:endParaRPr lang="en-US" altLang="zh-CN" sz="4000" b="1" dirty="0">
              <a:solidFill>
                <a:srgbClr val="000000"/>
              </a:solidFill>
              <a:ea typeface="宋体" pitchFamily="2" charset="-122"/>
              <a:cs typeface="Microsoft Sans Serif" panose="020B060402020202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Yuan Zhang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     Yuxing Chen</a:t>
            </a:r>
            <a:r>
              <a:rPr lang="en-US" sz="4000" baseline="30000">
                <a:solidFill>
                  <a:srgbClr val="E7E6E6">
                    <a:lumMod val="50000"/>
                  </a:srgbClr>
                </a:solidFill>
                <a:latin typeface="Calibri Light" charset="0"/>
                <a:cs typeface="+mn-ea"/>
                <a:sym typeface="+mn-ea"/>
              </a:rPr>
              <a:t>†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2 </a:t>
            </a:r>
            <a:r>
              <a:rPr lang="en-US" sz="4000" baseline="30000">
                <a:solidFill>
                  <a:srgbClr val="E7E6E6">
                    <a:lumMod val="50000"/>
                  </a:srgbClr>
                </a:solidFill>
                <a:latin typeface="Calibri Light" charset="0"/>
                <a:cs typeface="+mn-ea"/>
                <a:sym typeface="+mn-ea"/>
              </a:rPr>
              <a:t>    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Yuekun Yu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1     </a:t>
            </a:r>
            <a:r>
              <a:rPr lang="en-US" altLang="zh-CN" sz="4000" b="1" dirty="0" err="1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Jinbin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 Huang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    Rui Mao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    </a:t>
            </a:r>
            <a:r>
              <a:rPr lang="en-US" altLang="zh-CN" sz="4000" b="1" dirty="0" err="1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Anqun Pan</a:t>
            </a:r>
            <a:r>
              <a:rPr lang="en-US" sz="4000" baseline="30000">
                <a:solidFill>
                  <a:srgbClr val="E7E6E6">
                    <a:lumMod val="50000"/>
                  </a:srgbClr>
                </a:solidFill>
                <a:latin typeface="Calibri Light" charset="0"/>
                <a:cs typeface="+mn-ea"/>
                <a:sym typeface="+mn-ea"/>
              </a:rPr>
              <a:t>†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2</a:t>
            </a:r>
            <a:r>
              <a:rPr lang="en-US" altLang="zh-CN" sz="4000" b="1" dirty="0" err="1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    Lixiong Zheng</a:t>
            </a:r>
            <a:r>
              <a:rPr lang="en-US" sz="4000" baseline="30000">
                <a:solidFill>
                  <a:srgbClr val="E7E6E6">
                    <a:lumMod val="50000"/>
                  </a:srgbClr>
                </a:solidFill>
                <a:latin typeface="Calibri Light" charset="0"/>
                <a:cs typeface="+mn-ea"/>
                <a:sym typeface="+mn-ea"/>
              </a:rPr>
              <a:t>†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2</a:t>
            </a:r>
            <a:r>
              <a:rPr lang="en-US" altLang="zh-CN" sz="4000" b="1" dirty="0" err="1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    </a:t>
            </a:r>
            <a:r>
              <a:rPr lang="en-US" altLang="zh-CN" sz="4000" b="1" dirty="0" err="1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Jianbin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Qin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1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             </a:t>
            </a:r>
            <a:endParaRPr lang="en-US" altLang="zh-CN" sz="4000" b="1" dirty="0">
              <a:solidFill>
                <a:srgbClr val="000000"/>
              </a:solidFill>
              <a:ea typeface="宋体" pitchFamily="2" charset="-122"/>
              <a:cs typeface="Microsoft Sans Serif" panose="020B0604020202020204" pitchFamily="34" charset="0"/>
            </a:endParaRPr>
          </a:p>
          <a:p>
            <a:pPr algn="ctr"/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             1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 Shenzhen Institute of Computing Science, Shenzhen University               </a:t>
            </a:r>
            <a:r>
              <a:rPr lang="en-US" altLang="zh-CN" sz="4000" b="1" baseline="30000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  <a:sym typeface="+mn-ea"/>
              </a:rPr>
              <a:t>2</a:t>
            </a:r>
            <a:r>
              <a:rPr lang="en-US" altLang="zh-CN" sz="4000" b="1" dirty="0">
                <a:solidFill>
                  <a:srgbClr val="000000"/>
                </a:solidFill>
                <a:ea typeface="宋体" pitchFamily="2" charset="-122"/>
                <a:cs typeface="Microsoft Sans Serif" panose="020B0604020202020204" pitchFamily="34" charset="0"/>
              </a:rPr>
              <a:t>Tencent Inc.</a:t>
            </a:r>
            <a:endParaRPr lang="en-US" altLang="zh-CN" sz="4000" b="1" dirty="0">
              <a:solidFill>
                <a:srgbClr val="000000"/>
              </a:solidFill>
              <a:ea typeface="宋体" pitchFamily="2" charset="-122"/>
              <a:cs typeface="Microsoft Sans Serif" panose="020B0604020202020204" pitchFamily="34" charset="0"/>
            </a:endParaRPr>
          </a:p>
        </p:txBody>
      </p:sp>
      <p:grpSp>
        <p:nvGrpSpPr>
          <p:cNvPr id="41" name="组合 40"/>
          <p:cNvGrpSpPr>
            <a:grpSpLocks noChangeAspect="1"/>
          </p:cNvGrpSpPr>
          <p:nvPr/>
        </p:nvGrpSpPr>
        <p:grpSpPr>
          <a:xfrm>
            <a:off x="4633595" y="415290"/>
            <a:ext cx="21579478" cy="1728000"/>
            <a:chOff x="8591" y="379"/>
            <a:chExt cx="30496" cy="2442"/>
          </a:xfrm>
        </p:grpSpPr>
        <p:grpSp>
          <p:nvGrpSpPr>
            <p:cNvPr id="3" name="组合 2"/>
            <p:cNvGrpSpPr/>
            <p:nvPr/>
          </p:nvGrpSpPr>
          <p:grpSpPr>
            <a:xfrm rot="0">
              <a:off x="8591" y="379"/>
              <a:ext cx="20150" cy="2442"/>
              <a:chOff x="9076266" y="246445"/>
              <a:chExt cx="12795199" cy="1550865"/>
            </a:xfrm>
          </p:grpSpPr>
          <p:pic>
            <p:nvPicPr>
              <p:cNvPr id="1026" name="Picture 2" descr="没有照片描述。"/>
              <p:cNvPicPr>
                <a:picLocks noChangeAspect="1" noChangeArrowheads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82" t="13796" r="5674" b="20653"/>
              <a:stretch>
                <a:fillRect/>
              </a:stretch>
            </p:blipFill>
            <p:spPr bwMode="auto">
              <a:xfrm>
                <a:off x="9076266" y="246445"/>
                <a:ext cx="5288871" cy="15508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11121" y="360296"/>
                <a:ext cx="5860344" cy="13244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2" name="图片 3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333" y="873"/>
              <a:ext cx="7755" cy="1455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2160790" y="9150985"/>
            <a:ext cx="11197070" cy="3293745"/>
            <a:chOff x="1401179" y="3706210"/>
            <a:chExt cx="9783120" cy="2917159"/>
          </a:xfrm>
        </p:grpSpPr>
        <p:grpSp>
          <p:nvGrpSpPr>
            <p:cNvPr id="9" name="组合 8"/>
            <p:cNvGrpSpPr/>
            <p:nvPr/>
          </p:nvGrpSpPr>
          <p:grpSpPr>
            <a:xfrm>
              <a:off x="1401179" y="3706210"/>
              <a:ext cx="2173757" cy="2369507"/>
              <a:chOff x="1175711" y="3421310"/>
              <a:chExt cx="2303373" cy="3167388"/>
            </a:xfrm>
          </p:grpSpPr>
          <p:sp>
            <p:nvSpPr>
              <p:cNvPr id="10" name="矩形: 圆角 43"/>
              <p:cNvSpPr/>
              <p:nvPr/>
            </p:nvSpPr>
            <p:spPr>
              <a:xfrm>
                <a:off x="1180810" y="4666021"/>
                <a:ext cx="2284279" cy="789539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Inner Join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sp>
            <p:nvSpPr>
              <p:cNvPr id="11" name="矩形: 圆角 44"/>
              <p:cNvSpPr/>
              <p:nvPr/>
            </p:nvSpPr>
            <p:spPr>
              <a:xfrm>
                <a:off x="1175711" y="5889265"/>
                <a:ext cx="789439" cy="699433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title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sp>
            <p:nvSpPr>
              <p:cNvPr id="12" name="矩形: 圆角 45"/>
              <p:cNvSpPr/>
              <p:nvPr/>
            </p:nvSpPr>
            <p:spPr>
              <a:xfrm>
                <a:off x="2039551" y="5884632"/>
                <a:ext cx="1439533" cy="699433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0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movie_info</a:t>
                </a:r>
                <a:endParaRPr lang="en-US" altLang="zh-CN" sz="20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cxnSp>
            <p:nvCxnSpPr>
              <p:cNvPr id="14" name="直接箭头连接符 13"/>
              <p:cNvCxnSpPr>
                <a:stCxn id="11" idx="0"/>
              </p:cNvCxnSpPr>
              <p:nvPr/>
            </p:nvCxnSpPr>
            <p:spPr>
              <a:xfrm flipH="1" flipV="1">
                <a:off x="1570430" y="5455560"/>
                <a:ext cx="1" cy="433706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5" name="直接箭头连接符 14"/>
              <p:cNvCxnSpPr>
                <a:stCxn id="12" idx="0"/>
              </p:cNvCxnSpPr>
              <p:nvPr/>
            </p:nvCxnSpPr>
            <p:spPr>
              <a:xfrm flipV="1">
                <a:off x="2759317" y="5439069"/>
                <a:ext cx="0" cy="445564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6" name="矩形: 圆角 48"/>
              <p:cNvSpPr/>
              <p:nvPr/>
            </p:nvSpPr>
            <p:spPr>
              <a:xfrm>
                <a:off x="1180810" y="3421310"/>
                <a:ext cx="2284278" cy="789539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title.id=1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cxnSp>
            <p:nvCxnSpPr>
              <p:cNvPr id="19" name="直接箭头连接符 18"/>
              <p:cNvCxnSpPr>
                <a:stCxn id="10" idx="0"/>
                <a:endCxn id="16" idx="2"/>
              </p:cNvCxnSpPr>
              <p:nvPr/>
            </p:nvCxnSpPr>
            <p:spPr>
              <a:xfrm flipV="1">
                <a:off x="2322950" y="4210849"/>
                <a:ext cx="0" cy="455172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22" name="箭头: 右 19"/>
            <p:cNvSpPr/>
            <p:nvPr/>
          </p:nvSpPr>
          <p:spPr>
            <a:xfrm>
              <a:off x="4024008" y="4645749"/>
              <a:ext cx="4143983" cy="519801"/>
            </a:xfrm>
            <a:prstGeom prst="rightArrow">
              <a:avLst/>
            </a:prstGeom>
            <a:solidFill>
              <a:srgbClr val="FFFFFF"/>
            </a:solidFill>
            <a:ln w="381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000000"/>
                </a:solidFill>
                <a:latin typeface="Arial" panose="020B0604020202090204" pitchFamily="34" charset="0"/>
                <a:ea typeface="黑体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132523" y="4371527"/>
              <a:ext cx="3906994" cy="407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400">
                  <a:latin typeface="Arial Regular" panose="020B0604020202090204" charset="0"/>
                  <a:cs typeface="Arial Regular" panose="020B0604020202090204" charset="0"/>
                </a:rPr>
                <a:t>Predicate pushdown rewriting</a:t>
              </a:r>
              <a:endParaRPr lang="en-US" altLang="zh-CN" sz="2400"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726767" y="3720481"/>
              <a:ext cx="2457532" cy="2366041"/>
              <a:chOff x="8726767" y="3720481"/>
              <a:chExt cx="2457532" cy="2366041"/>
            </a:xfrm>
          </p:grpSpPr>
          <p:sp>
            <p:nvSpPr>
              <p:cNvPr id="25" name="矩形: 圆角 52"/>
              <p:cNvSpPr/>
              <p:nvPr/>
            </p:nvSpPr>
            <p:spPr>
              <a:xfrm>
                <a:off x="8726767" y="3720481"/>
                <a:ext cx="2155737" cy="673285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Inner Join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sp>
            <p:nvSpPr>
              <p:cNvPr id="26" name="矩形: 圆角 53"/>
              <p:cNvSpPr/>
              <p:nvPr/>
            </p:nvSpPr>
            <p:spPr>
              <a:xfrm>
                <a:off x="8738828" y="5563280"/>
                <a:ext cx="881771" cy="523242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title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sp>
            <p:nvSpPr>
              <p:cNvPr id="28" name="矩形: 圆角 54"/>
              <p:cNvSpPr/>
              <p:nvPr/>
            </p:nvSpPr>
            <p:spPr>
              <a:xfrm>
                <a:off x="9778040" y="5543524"/>
                <a:ext cx="1406259" cy="523242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0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movie_info</a:t>
                </a:r>
                <a:endParaRPr lang="en-US" altLang="zh-CN" sz="20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cxnSp>
            <p:nvCxnSpPr>
              <p:cNvPr id="29" name="直接箭头连接符 28"/>
              <p:cNvCxnSpPr>
                <a:stCxn id="26" idx="0"/>
                <a:endCxn id="31" idx="2"/>
              </p:cNvCxnSpPr>
              <p:nvPr/>
            </p:nvCxnSpPr>
            <p:spPr>
              <a:xfrm flipV="1">
                <a:off x="9179714" y="5286661"/>
                <a:ext cx="0" cy="276619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0" name="直接箭头连接符 29"/>
              <p:cNvCxnSpPr>
                <a:stCxn id="28" idx="0"/>
              </p:cNvCxnSpPr>
              <p:nvPr/>
            </p:nvCxnSpPr>
            <p:spPr>
              <a:xfrm flipV="1">
                <a:off x="10481170" y="4384815"/>
                <a:ext cx="0" cy="1158709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31" name="矩形: 圆角 57"/>
              <p:cNvSpPr/>
              <p:nvPr/>
            </p:nvSpPr>
            <p:spPr>
              <a:xfrm>
                <a:off x="8738828" y="4696011"/>
                <a:ext cx="881771" cy="590650"/>
              </a:xfrm>
              <a:prstGeom prst="roundRect">
                <a:avLst/>
              </a:prstGeom>
              <a:solidFill>
                <a:srgbClr val="2A50A1"/>
              </a:solidFill>
              <a:ln w="12700" cap="flat" cmpd="sng" algn="ctr">
                <a:solidFill>
                  <a:srgbClr val="2A50A1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r>
                  <a:rPr lang="en-US" altLang="zh-CN" sz="2400">
                    <a:solidFill>
                      <a:srgbClr val="FFFFFF"/>
                    </a:solidFill>
                    <a:latin typeface="Arial" panose="020B0604020202090204" pitchFamily="34" charset="0"/>
                    <a:ea typeface="黑体" charset="0"/>
                  </a:rPr>
                  <a:t>id=1</a:t>
                </a:r>
                <a:endParaRPr lang="en-US" altLang="zh-CN" sz="2400">
                  <a:solidFill>
                    <a:srgbClr val="FFFFFF"/>
                  </a:solidFill>
                  <a:latin typeface="Arial" panose="020B0604020202090204" pitchFamily="34" charset="0"/>
                  <a:ea typeface="黑体" charset="0"/>
                </a:endParaRPr>
              </a:p>
            </p:txBody>
          </p:sp>
          <p:cxnSp>
            <p:nvCxnSpPr>
              <p:cNvPr id="33" name="直接箭头连接符 32"/>
              <p:cNvCxnSpPr>
                <a:stCxn id="31" idx="0"/>
              </p:cNvCxnSpPr>
              <p:nvPr/>
            </p:nvCxnSpPr>
            <p:spPr>
              <a:xfrm flipV="1">
                <a:off x="9179714" y="4393767"/>
                <a:ext cx="1" cy="302244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2A50A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34" name="文本框 33"/>
            <p:cNvSpPr txBox="1"/>
            <p:nvPr/>
          </p:nvSpPr>
          <p:spPr>
            <a:xfrm>
              <a:off x="1401179" y="6211131"/>
              <a:ext cx="2622047" cy="407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Runtime: 17952.84 ms</a:t>
              </a:r>
              <a:endParaRPr lang="en-US" altLang="zh-CN" sz="240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24578" y="6215630"/>
              <a:ext cx="2226465" cy="407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Runtime: 0.45 ms</a:t>
              </a:r>
              <a:endParaRPr lang="en-US" altLang="zh-CN" sz="24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95331" y="5678540"/>
              <a:ext cx="4922302" cy="407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400" dirty="0">
                  <a:latin typeface="Arial Regular" panose="020B0604020202090204" charset="0"/>
                  <a:cs typeface="Arial Regular" panose="020B0604020202090204" charset="0"/>
                </a:rPr>
                <a:t>The runtime difference is</a:t>
              </a:r>
              <a:r>
                <a:rPr lang="en-US" altLang="zh-CN" sz="2400" b="1" dirty="0">
                  <a:solidFill>
                    <a:srgbClr val="FF0000"/>
                  </a:solidFill>
                  <a:latin typeface="Arial Regular" panose="020B0604020202090204" charset="0"/>
                  <a:cs typeface="Arial Regular" panose="020B0604020202090204" charset="0"/>
                </a:rPr>
                <a:t> </a:t>
              </a:r>
              <a:r>
                <a:rPr lang="en-US" altLang="zh-CN" sz="2400" b="1" dirty="0">
                  <a:solidFill>
                    <a:srgbClr val="C00000"/>
                  </a:solidFill>
                  <a:latin typeface="Arial Regular" panose="020B0604020202090204" charset="0"/>
                  <a:cs typeface="Arial Regular" panose="020B0604020202090204" charset="0"/>
                </a:rPr>
                <a:t>40,000 times!</a:t>
              </a:r>
              <a:endParaRPr lang="en-US" altLang="zh-CN" sz="2400" b="1" dirty="0">
                <a:solidFill>
                  <a:srgbClr val="C00000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</p:grpSp>
      <p:sp>
        <p:nvSpPr>
          <p:cNvPr id="38" name="TextBox 260"/>
          <p:cNvSpPr txBox="1"/>
          <p:nvPr/>
        </p:nvSpPr>
        <p:spPr>
          <a:xfrm>
            <a:off x="1106805" y="12851765"/>
            <a:ext cx="13232765" cy="6958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indent="-914400">
              <a:buFont typeface="+mj-lt"/>
              <a:buAutoNum type="alphaUcPeriod" startAt="2"/>
            </a:pPr>
            <a:r>
              <a:rPr lang="en-US" altLang="zh-CN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Why Query Rewrite Rule Discovery ?</a:t>
            </a:r>
            <a:r>
              <a:rPr lang="en-US" altLang="zh-CN" sz="5545" b="1" dirty="0">
                <a:solidFill>
                  <a:srgbClr val="33669A"/>
                </a:solidFill>
                <a:latin typeface="Eurostile" panose="020B0504020202050204" pitchFamily="34" charset="77"/>
                <a:sym typeface="+mn-ea"/>
              </a:rPr>
              <a:t> </a:t>
            </a:r>
            <a:endParaRPr lang="en-US" sz="5545" b="1" dirty="0">
              <a:solidFill>
                <a:srgbClr val="33669A"/>
              </a:solidFill>
              <a:latin typeface="Eurostile" panose="020B0504020202050204" pitchFamily="34" charset="77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sz="3600" b="1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Motivation: </a:t>
            </a:r>
            <a:endParaRPr lang="en-US" sz="36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  <a:sym typeface="+mn-ea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3600" b="1" dirty="0">
                <a:solidFill>
                  <a:srgbClr val="C00000"/>
                </a:solidFill>
                <a:latin typeface="Arial Bold" panose="020B0604020202090204" charset="0"/>
                <a:ea typeface="Microsoft YaHei UI" panose="020B0503020204020204" charset="-122"/>
                <a:cs typeface="Arial Bold" panose="020B0604020202090204" charset="0"/>
                <a:sym typeface="+mn-ea"/>
              </a:rPr>
              <a:t>Complexity Wall:</a:t>
            </a:r>
            <a:r>
              <a:rPr lang="en-US" altLang="zh-CN" sz="3600" dirty="0">
                <a:solidFill>
                  <a:srgbClr val="C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Production systems require rules with 5-10 nodes, but search spaces grow exponentially.</a:t>
            </a:r>
            <a:endParaRPr lang="en-US" altLang="zh-CN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  <a:sym typeface="+mn-ea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3600" b="1" dirty="0">
                <a:solidFill>
                  <a:srgbClr val="C00000"/>
                </a:solidFill>
                <a:latin typeface="Arial Bold" panose="020B0604020202090204" charset="0"/>
                <a:ea typeface="Microsoft YaHei UI" panose="020B0503020204020204" charset="-122"/>
                <a:cs typeface="Arial Bold" panose="020B0604020202090204" charset="0"/>
                <a:sym typeface="+mn-ea"/>
              </a:rPr>
              <a:t>Severe Redundancy: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Over 90% of auto-generated rules are trivial, redundant, or structural isomers.</a:t>
            </a:r>
            <a:endParaRPr lang="en-US" altLang="zh-CN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  <a:sym typeface="+mn-ea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3600" b="1" dirty="0">
                <a:solidFill>
                  <a:srgbClr val="C00000"/>
                </a:solidFill>
                <a:latin typeface="Arial Bold" panose="020B0604020202090204" charset="0"/>
                <a:ea typeface="Microsoft YaHei UI" panose="020B0503020204020204" charset="-122"/>
                <a:cs typeface="Arial Bold" panose="020B0604020202090204" charset="0"/>
                <a:sym typeface="+mn-ea"/>
              </a:rPr>
              <a:t>Efficiency Gap: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Existing tools (e.g., WeTune) fail beyond 4 nodes, making complex optimizations infeasible.</a:t>
            </a:r>
            <a:endParaRPr lang="en-US" sz="32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sz="3600" b="1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Core Goal: </a:t>
            </a:r>
            <a:r>
              <a:rPr lang="en-US" sz="3200" dirty="0">
                <a:solidFill>
                  <a:srgbClr val="000000"/>
                </a:solidFill>
                <a:latin typeface="Arial" panose="020B0604020202090204"/>
                <a:ea typeface="Microsoft YaHei UI" panose="020B0503020204020204" charset="-122"/>
                <a:sym typeface="+mn-ea"/>
              </a:rPr>
              <a:t>To build a scalable system that discovers high-impact, complex rewrite rules for large-scale query plans.</a:t>
            </a:r>
            <a:endParaRPr lang="en-US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32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7689311"/>
            <a:ext cx="11561445" cy="6588760"/>
          </a:xfrm>
          <a:prstGeom prst="rect">
            <a:avLst/>
          </a:prstGeom>
        </p:spPr>
      </p:pic>
      <p:cxnSp>
        <p:nvCxnSpPr>
          <p:cNvPr id="40" name="直线连接符 7"/>
          <p:cNvCxnSpPr/>
          <p:nvPr/>
        </p:nvCxnSpPr>
        <p:spPr>
          <a:xfrm>
            <a:off x="803275" y="34628661"/>
            <a:ext cx="14008463" cy="0"/>
          </a:xfrm>
          <a:prstGeom prst="line">
            <a:avLst/>
          </a:prstGeom>
          <a:ln w="22225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20440" y="7525385"/>
            <a:ext cx="12277090" cy="521398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0070" y="27689175"/>
            <a:ext cx="7606665" cy="4058920"/>
          </a:xfrm>
          <a:prstGeom prst="rect">
            <a:avLst/>
          </a:prstGeom>
        </p:spPr>
      </p:pic>
      <p:sp>
        <p:nvSpPr>
          <p:cNvPr id="43" name="TextBox 415"/>
          <p:cNvSpPr txBox="1"/>
          <p:nvPr/>
        </p:nvSpPr>
        <p:spPr>
          <a:xfrm>
            <a:off x="15622905" y="25226645"/>
            <a:ext cx="13701395" cy="12385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+mj-lt"/>
              <a:buNone/>
            </a:pPr>
            <a:r>
              <a:rPr lang="zh-CN" alt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 </a:t>
            </a:r>
            <a:r>
              <a:rPr lang="en-US" altLang="zh-CN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G</a:t>
            </a:r>
            <a:r>
              <a:rPr lang="en-US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. Experiments</a:t>
            </a:r>
            <a:endParaRPr lang="en-US" sz="4400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zh-CN" sz="2800" dirty="0">
                <a:solidFill>
                  <a:srgbClr val="1266D4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Datasets. </a:t>
            </a: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11,518 real-world SQL queries (GitHub Apps &amp; YashanDB). </a:t>
            </a:r>
            <a:endParaRPr lang="en-US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r>
              <a:rPr lang="en-US" altLang="zh-CN" sz="2800" dirty="0">
                <a:solidFill>
                  <a:srgbClr val="1266D4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Baselines: </a:t>
            </a:r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WeTune (State-of-the-art automated rule discovery tool).</a:t>
            </a:r>
            <a:endParaRPr lang="en-US" altLang="zh-CN" sz="28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endParaRPr lang="en-US" altLang="zh-CN" sz="2800" dirty="0">
              <a:solidFill>
                <a:srgbClr val="1266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endParaRPr lang="en-US" altLang="zh-CN" sz="2800" b="1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q"/>
            </a:pPr>
            <a:endParaRPr lang="en-US" altLang="zh-CN" sz="2800" dirty="0">
              <a:solidFill>
                <a:srgbClr val="000000"/>
              </a:solidFill>
              <a:latin typeface="Arial" panose="020B0604020202090204"/>
              <a:ea typeface="Microsoft YaHei UI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0070" y="19339560"/>
            <a:ext cx="13107670" cy="2484120"/>
          </a:xfrm>
          <a:prstGeom prst="rect">
            <a:avLst/>
          </a:prstGeom>
        </p:spPr>
      </p:pic>
      <p:graphicFrame>
        <p:nvGraphicFramePr>
          <p:cNvPr id="59" name="表格 58"/>
          <p:cNvGraphicFramePr/>
          <p:nvPr>
            <p:custDataLst>
              <p:tags r:id="rId9"/>
            </p:custDataLst>
          </p:nvPr>
        </p:nvGraphicFramePr>
        <p:xfrm>
          <a:off x="15800070" y="23399115"/>
          <a:ext cx="13107670" cy="1481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3835"/>
                <a:gridCol w="6553835"/>
              </a:tblGrid>
              <a:tr h="1481455">
                <a:tc>
                  <a:txBody>
                    <a:bodyPr/>
                    <a:p>
                      <a:pPr marL="514350" indent="-514350">
                        <a:buAutoNum type="arabicPeriod"/>
                      </a:pP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Pre-filtering (Discovery Phase)</a:t>
                      </a:r>
                      <a:endParaRPr lang="en-US" altLang="zh-CN" sz="3200" b="1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marL="457200" indent="-457200">
                        <a:buFont typeface="Wingdings" panose="05000000000000000000" charset="0"/>
                        <a:buChar char=""/>
                      </a:pPr>
                      <a:r>
                        <a:rPr lang="en-US" altLang="zh-CN" sz="2800" b="0">
                          <a:solidFill>
                            <a:srgbClr val="C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Ranks and selects Top-k promising template pairs.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514350" indent="-514350" algn="l">
                        <a:buClrTx/>
                        <a:buSzTx/>
                        <a:buFont typeface="+mj-lt"/>
                        <a:buAutoNum type="arabicPeriod" startAt="2"/>
                      </a:pP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Final Ranking (Optimization)</a:t>
                      </a:r>
                      <a:endParaRPr lang="en-US" altLang="zh-CN" sz="3200" b="1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marL="457200" indent="-457200" algn="l">
                        <a:buClrTx/>
                        <a:buSzTx/>
                        <a:buFont typeface="Wingdings" panose="05000000000000000000" charset="0"/>
                        <a:buChar char=""/>
                      </a:pPr>
                      <a:r>
                        <a:rPr lang="en-US" altLang="zh-CN" sz="2800" b="0">
                          <a:solidFill>
                            <a:srgbClr val="C00000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Scores and sorts validated rules by predicted performance gains.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ysDash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805" y="19242405"/>
            <a:ext cx="13496290" cy="43046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470" y="23667720"/>
            <a:ext cx="13509625" cy="12128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27700" y="19339560"/>
            <a:ext cx="4300855" cy="405955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Picture 1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2053" y="19404000"/>
            <a:ext cx="473098" cy="473098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71953" y="23779471"/>
            <a:ext cx="473098" cy="473098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228090" y="23977600"/>
            <a:ext cx="12549505" cy="55054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11400155" y="19403695"/>
            <a:ext cx="473075" cy="473075"/>
          </a:xfrm>
          <a:prstGeom prst="ellipse">
            <a:avLst/>
          </a:prstGeom>
          <a:solidFill>
            <a:srgbClr val="D5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方正公文黑体" panose="02000500000000000000" charset="-122"/>
                <a:ea typeface="方正公文黑体" panose="02000500000000000000" charset="-122"/>
              </a:rPr>
              <a:t>3</a:t>
            </a:r>
            <a:endParaRPr lang="en-US" altLang="zh-CN" sz="2000">
              <a:latin typeface="方正公文黑体" panose="02000500000000000000" charset="-122"/>
              <a:ea typeface="方正公文黑体" panose="02000500000000000000" charset="-122"/>
            </a:endParaRPr>
          </a:p>
        </p:txBody>
      </p:sp>
      <p:sp>
        <p:nvSpPr>
          <p:cNvPr id="46" name="TextBox 69"/>
          <p:cNvSpPr txBox="1"/>
          <p:nvPr/>
        </p:nvSpPr>
        <p:spPr>
          <a:xfrm>
            <a:off x="1228090" y="25048845"/>
            <a:ext cx="13232130" cy="430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indent="-914400">
              <a:buFont typeface="+mj-lt"/>
              <a:buAutoNum type="alphaUcPeriod" startAt="3"/>
            </a:pPr>
            <a:r>
              <a:rPr lang="en-US" altLang="zh-CN" sz="5545" b="1" dirty="0">
                <a:solidFill>
                  <a:srgbClr val="1266D4"/>
                </a:solidFill>
                <a:latin typeface="Arial" panose="020B0604020202090204"/>
                <a:ea typeface="Microsoft YaHei UI" panose="020B0503020204020204" charset="-122"/>
              </a:rPr>
              <a:t>System Overview: SLER</a:t>
            </a:r>
            <a:endParaRPr lang="en-US" sz="5545" b="1" dirty="0">
              <a:solidFill>
                <a:srgbClr val="1266D4"/>
              </a:solidFill>
              <a:latin typeface="Arial" panose="020B0604020202090204"/>
              <a:ea typeface="Microsoft YaHei UI" panose="020B050302020402020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Standardized Template Enumerator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514350" indent="-514350" algn="l">
              <a:buClrTx/>
              <a:buSzTx/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RTP-Based Deduplicator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514350" indent="-514350" algn="l">
              <a:buClrTx/>
              <a:buSzTx/>
              <a:buFont typeface="+mj-lt"/>
              <a:buAutoNum type="arabicPeriod"/>
            </a:pPr>
            <a:r>
              <a:rPr lang="en-US" altLang="zh-CN" sz="3600" b="1" dirty="0">
                <a:latin typeface="Arial Bold" panose="020B0604020202090204" charset="0"/>
                <a:cs typeface="Arial Bold" panose="020B0604020202090204" charset="0"/>
              </a:rPr>
              <a:t>Learning-to-Rank (LTR) Ranker</a:t>
            </a:r>
            <a:endParaRPr lang="en-US" altLang="zh-CN" sz="360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10115" y="15119350"/>
            <a:ext cx="6397625" cy="261175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00070" y="15243175"/>
            <a:ext cx="6529705" cy="2743200"/>
          </a:xfrm>
          <a:prstGeom prst="rect">
            <a:avLst/>
          </a:prstGeom>
        </p:spPr>
      </p:pic>
      <p:graphicFrame>
        <p:nvGraphicFramePr>
          <p:cNvPr id="50" name="表格 49"/>
          <p:cNvGraphicFramePr/>
          <p:nvPr>
            <p:custDataLst>
              <p:tags r:id="rId16"/>
            </p:custDataLst>
          </p:nvPr>
        </p:nvGraphicFramePr>
        <p:xfrm>
          <a:off x="15800070" y="13060045"/>
          <a:ext cx="13107670" cy="1870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095"/>
                <a:gridCol w="5997575"/>
              </a:tblGrid>
              <a:tr h="18700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3200" dirty="0">
                          <a:solidFill>
                            <a:srgbClr val="000000"/>
                          </a:solidFill>
                          <a:latin typeface="Arial Bold" panose="020B0604020202090204" charset="0"/>
                          <a:ea typeface="Microsoft YaHei UI" panose="020B0503020204020204" charset="-122"/>
                          <a:cs typeface="Arial Bold" panose="020B0604020202090204" charset="0"/>
                          <a:sym typeface="+mn-ea"/>
                        </a:rPr>
                        <a:t>Eliminating Structural Redundancy</a:t>
                      </a:r>
                      <a:endParaRPr lang="en-US" altLang="zh-CN" sz="3200" b="1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marL="971550" lvl="1" indent="-51435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buClrTx/>
                        <a:buSzTx/>
                        <a:buFont typeface="+mj-ea"/>
                        <a:buAutoNum type="circleNumDbPlain"/>
                      </a:pPr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Microsoft YaHei UI" panose="020B0503020204020204" charset="-122"/>
                          <a:cs typeface="Arial" panose="020B0604020202090204" pitchFamily="34" charset="0"/>
                          <a:sym typeface="+mn-ea"/>
                        </a:rPr>
                        <a:t>Operator Removal</a:t>
                      </a:r>
                      <a:endParaRPr lang="en-US" altLang="zh-CN" sz="2800" b="0" dirty="0"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Microsoft YaHei UI" panose="020B0503020204020204" charset="-122"/>
                        <a:cs typeface="Arial" panose="020B0604020202090204" pitchFamily="34" charset="0"/>
                      </a:endParaRPr>
                    </a:p>
                    <a:p>
                      <a:pPr marL="971550" lvl="1" indent="-51435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buClrTx/>
                        <a:buSzTx/>
                        <a:buFont typeface="+mj-ea"/>
                        <a:buAutoNum type="circleNumDbPlain"/>
                      </a:pPr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Microsoft YaHei UI" panose="020B0503020204020204" charset="-122"/>
                          <a:cs typeface="Arial" panose="020B0604020202090204" pitchFamily="34" charset="0"/>
                          <a:sym typeface="+mn-ea"/>
                        </a:rPr>
                        <a:t>Operator Permutation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ClrTx/>
                        <a:buSzTx/>
                        <a:buFont typeface="+mj-lt"/>
                        <a:buNone/>
                      </a:pPr>
                      <a:r>
                        <a:rPr lang="en-US" altLang="zh-CN" sz="3200" dirty="0">
                          <a:solidFill>
                            <a:srgbClr val="000000"/>
                          </a:solidFill>
                          <a:latin typeface="Arial Bold" panose="020B0604020202090204" charset="0"/>
                          <a:ea typeface="Microsoft YaHei UI" panose="020B0503020204020204" charset="-122"/>
                          <a:cs typeface="Arial Bold" panose="020B0604020202090204" charset="0"/>
                          <a:sym typeface="+mn-ea"/>
                        </a:rPr>
                        <a:t> The RTP Algorithm</a:t>
                      </a:r>
                      <a:endParaRPr lang="en-US" altLang="zh-CN" sz="3200" b="1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marL="971550" lvl="1" indent="-51435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buClrTx/>
                        <a:buSzTx/>
                        <a:buFont typeface="+mj-ea"/>
                        <a:buAutoNum type="circleNumDbPlain"/>
                      </a:pPr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Microsoft YaHei UI" panose="020B0503020204020204" charset="-122"/>
                          <a:cs typeface="Arial" panose="020B0604020202090204" pitchFamily="34" charset="0"/>
                          <a:sym typeface="+mn-ea"/>
                        </a:rPr>
                        <a:t>Logical Equivalence Pruning</a:t>
                      </a:r>
                      <a:endParaRPr lang="en-US" altLang="zh-CN" sz="2800" b="0" dirty="0"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Microsoft YaHei UI" panose="020B0503020204020204" charset="-122"/>
                        <a:cs typeface="Arial" panose="020B0604020202090204" pitchFamily="34" charset="0"/>
                      </a:endParaRPr>
                    </a:p>
                    <a:p>
                      <a:pPr marL="971550" lvl="1" indent="-51435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buClrTx/>
                        <a:buSzTx/>
                        <a:buFont typeface="+mj-ea"/>
                        <a:buAutoNum type="circleNumDbPlain"/>
                      </a:pPr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Microsoft YaHei UI" panose="020B0503020204020204" charset="-122"/>
                          <a:cs typeface="Arial" panose="020B0604020202090204" pitchFamily="34" charset="0"/>
                          <a:sym typeface="+mn-ea"/>
                        </a:rPr>
                        <a:t>Efficient Deduplication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ysDash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18080990" y="27138630"/>
            <a:ext cx="3576955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rgbClr val="1266D4"/>
                </a:solidFill>
                <a:latin typeface="Arial Regular" panose="020B0604020202090204" charset="0"/>
                <a:cs typeface="Arial Regular" panose="020B0604020202090204" charset="0"/>
              </a:rPr>
              <a:t>Optimization Speed</a:t>
            </a:r>
            <a:endParaRPr lang="en-US" altLang="zh-CN" sz="2800">
              <a:solidFill>
                <a:srgbClr val="1266D4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435999" y="27689175"/>
            <a:ext cx="5848985" cy="1727835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25521920" y="27138630"/>
            <a:ext cx="228219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rgbClr val="1266D4"/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Efficiency</a:t>
            </a:r>
            <a:endParaRPr lang="en-US" altLang="zh-CN" sz="2800">
              <a:solidFill>
                <a:srgbClr val="1266D4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06735" y="29904055"/>
            <a:ext cx="5782310" cy="1664335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25521920" y="29353510"/>
            <a:ext cx="228219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rgbClr val="1266D4"/>
                </a:solidFill>
                <a:latin typeface="Arial Regular" panose="020B0604020202090204" charset="0"/>
                <a:cs typeface="Arial Regular" panose="020B0604020202090204" charset="0"/>
              </a:rPr>
              <a:t>Scalability</a:t>
            </a:r>
            <a:endParaRPr lang="en-US" altLang="zh-CN" sz="2800">
              <a:solidFill>
                <a:srgbClr val="1266D4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423005" y="32310705"/>
            <a:ext cx="11793855" cy="3987165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16220440" y="31760160"/>
            <a:ext cx="1227709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rgbClr val="1266D4"/>
                </a:solidFill>
                <a:latin typeface="Arial Regular" panose="020B0604020202090204" charset="0"/>
                <a:cs typeface="Arial Regular" panose="020B0604020202090204" charset="0"/>
              </a:rPr>
              <a:t>Efficiency evaluation in enumeration and de-redundancy</a:t>
            </a:r>
            <a:endParaRPr lang="en-US" altLang="zh-CN" sz="2800">
              <a:solidFill>
                <a:srgbClr val="1266D4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cxnSp>
        <p:nvCxnSpPr>
          <p:cNvPr id="61" name="直线连接符 7"/>
          <p:cNvCxnSpPr/>
          <p:nvPr/>
        </p:nvCxnSpPr>
        <p:spPr>
          <a:xfrm>
            <a:off x="15315565" y="27138836"/>
            <a:ext cx="14008463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7"/>
          <p:cNvCxnSpPr/>
          <p:nvPr/>
        </p:nvCxnSpPr>
        <p:spPr>
          <a:xfrm>
            <a:off x="15383510" y="31748301"/>
            <a:ext cx="14008463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7"/>
          <p:cNvCxnSpPr/>
          <p:nvPr/>
        </p:nvCxnSpPr>
        <p:spPr>
          <a:xfrm flipV="1">
            <a:off x="23406735" y="27175666"/>
            <a:ext cx="0" cy="451485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7"/>
          <p:cNvCxnSpPr/>
          <p:nvPr/>
        </p:nvCxnSpPr>
        <p:spPr>
          <a:xfrm>
            <a:off x="23392130" y="29400706"/>
            <a:ext cx="5892165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7"/>
          <p:cNvCxnSpPr/>
          <p:nvPr/>
        </p:nvCxnSpPr>
        <p:spPr>
          <a:xfrm>
            <a:off x="15383510" y="36512706"/>
            <a:ext cx="14008463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23005" y="37093525"/>
            <a:ext cx="11972925" cy="4413250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16347440" y="36542980"/>
            <a:ext cx="1227709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rgbClr val="1266D4"/>
                </a:solidFill>
                <a:latin typeface="Arial Regular" panose="020B0604020202090204" charset="0"/>
                <a:cs typeface="Arial Regular" panose="020B0604020202090204" charset="0"/>
              </a:rPr>
              <a:t>Assess SLER's ranker via cumulative rewritten SQLs with added rules</a:t>
            </a:r>
            <a:endParaRPr lang="en-US" altLang="zh-CN" sz="2800">
              <a:solidFill>
                <a:srgbClr val="1266D4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1032*116"/>
  <p:tag name="TABLE_ENDDRAG_RECT" val="1244*1842*1032*116"/>
</p:tagLst>
</file>

<file path=ppt/tags/tag3.xml><?xml version="1.0" encoding="utf-8"?>
<p:tagLst xmlns:p="http://schemas.openxmlformats.org/presentationml/2006/main">
  <p:tag name="TABLE_ENDDRAG_ORIGIN_RECT" val="1032*147"/>
  <p:tag name="TABLE_ENDDRAG_RECT" val="1244*1028*1032*147"/>
</p:tagLst>
</file>

<file path=ppt/tags/tag4.xml><?xml version="1.0" encoding="utf-8"?>
<p:tagLst xmlns:p="http://schemas.openxmlformats.org/presentationml/2006/main">
  <p:tag name="COMMONDATA" val="eyJoZGlkIjoiNDhkNGZjZTUwODZkOTViZTYzMDc5MGNjODI1OWZiMDA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0</TotalTime>
  <Words>2555</Words>
  <Application>WPS 演示</Application>
  <PresentationFormat>自定义</PresentationFormat>
  <Paragraphs>114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3" baseType="lpstr">
      <vt:lpstr>Arial</vt:lpstr>
      <vt:lpstr>宋体</vt:lpstr>
      <vt:lpstr>Wingdings</vt:lpstr>
      <vt:lpstr>Arial</vt:lpstr>
      <vt:lpstr>Times New Roman</vt:lpstr>
      <vt:lpstr>Microsoft YaHei UI</vt:lpstr>
      <vt:lpstr>苹方-简</vt:lpstr>
      <vt:lpstr>Wingdings</vt:lpstr>
      <vt:lpstr>Arial Bold</vt:lpstr>
      <vt:lpstr>DejaVu Math TeX Gyre</vt:lpstr>
      <vt:lpstr>Microsoft Sans Serif</vt:lpstr>
      <vt:lpstr>Calibri Light</vt:lpstr>
      <vt:lpstr>黑体</vt:lpstr>
      <vt:lpstr>Arial Regular</vt:lpstr>
      <vt:lpstr>微软雅黑</vt:lpstr>
      <vt:lpstr>宋体</vt:lpstr>
      <vt:lpstr>Helvetica Neue</vt:lpstr>
      <vt:lpstr>汉仪旗黑</vt:lpstr>
      <vt:lpstr>Arial Unicode MS</vt:lpstr>
      <vt:lpstr>Impact</vt:lpstr>
      <vt:lpstr>汉仪书宋二KW</vt:lpstr>
      <vt:lpstr>DejaVu Sans</vt:lpstr>
      <vt:lpstr>Calibri</vt:lpstr>
      <vt:lpstr>汉仪中黑KW</vt:lpstr>
      <vt:lpstr>Microsoft YaHei UI</vt:lpstr>
      <vt:lpstr>Times New Roman</vt:lpstr>
      <vt:lpstr>微软雅黑</vt:lpstr>
      <vt:lpstr>Eurostile</vt:lpstr>
      <vt:lpstr>Eurostile</vt:lpstr>
      <vt:lpstr>方正公文黑体</vt:lpstr>
      <vt:lpstr>PingFang SC Regular</vt:lpstr>
      <vt:lpstr>NewsPrint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mxieaa</dc:creator>
  <cp:lastModifiedBy>DOUBLE FACE</cp:lastModifiedBy>
  <cp:revision>377</cp:revision>
  <cp:lastPrinted>2026-04-24T15:59:25Z</cp:lastPrinted>
  <dcterms:created xsi:type="dcterms:W3CDTF">2026-04-24T15:59:25Z</dcterms:created>
  <dcterms:modified xsi:type="dcterms:W3CDTF">2026-04-24T15:59:25Z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6E6A5B603BC04D10AAEB7DCE6D6F7120_13</vt:lpwstr>
  </property>
  <property fmtid="{D5CDD505-2E9C-101B-9397-08002B2CF9AE}" pid="3" name="KSOProductBuildVer">
    <vt:lpwstr>2052-6.14.0.8924</vt:lpwstr>
  </property>
</Properties>
</file>